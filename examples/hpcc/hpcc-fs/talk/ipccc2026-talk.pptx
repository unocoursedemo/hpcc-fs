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Sheet1!$B$2:$B$6</c:f>
              <c:numCache>
                <c:formatCode>General</c:formatCode>
                <c:ptCount val="5"/>
                <c:pt idx="0">
                  <c:v>23.27</c:v>
                </c:pt>
                <c:pt idx="1">
                  <c:v>22.44</c:v>
                </c:pt>
                <c:pt idx="2">
                  <c:v>23.22</c:v>
                </c:pt>
                <c:pt idx="3">
                  <c:v>22.33</c:v>
                </c:pt>
                <c:pt idx="4">
                  <c:v>23.11</c:v>
                </c:pt>
              </c:numCache>
            </c:numRef>
          </c:val>
        </c:ser>
        <c:ser>
          <c:idx val="1"/>
          <c:order val="1"/>
          <c:tx>
            <c:strRef>
              <c:f>Sheet1!$C$1</c:f>
              <c:strCache>
                <c:ptCount val="1"/>
                <c:pt idx="0">
                  <c:v>HPCC-FS</c:v>
                </c:pt>
              </c:strCache>
            </c:strRef>
          </c:tx>
          <c:spPr>
            <a:solidFill>
              <a:srgbClr val="4F81B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Sheet1!$C$2:$C$6</c:f>
              <c:numCache>
                <c:formatCode>General</c:formatCode>
                <c:ptCount val="5"/>
                <c:pt idx="0">
                  <c:v>17.99</c:v>
                </c:pt>
                <c:pt idx="1">
                  <c:v>17.96</c:v>
                </c:pt>
                <c:pt idx="2">
                  <c:v>17.99</c:v>
                </c:pt>
                <c:pt idx="3">
                  <c:v>17.97</c:v>
                </c:pt>
                <c:pt idx="4">
                  <c:v>17.92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alternative: an operating mode that coexists with stock HPCC on the same fabric. The one-line story: a flow crossing several bottlenecks gets half its fair share, no sender-side correction we tried can close the gap, and one fair-rate scalar per switch port — offered as a per-class mode, not a replacement — closes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variants spanning the design space: additive boosts, debiasing, decrease-side scaling, share-aware updates. Best case gets you 1.63; the target is 1.0. This is the paper's negative result, and it motivates everything after: why does every endpoint fix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and they compose. First, at equilibrium HPCC's multiplicative machinery goes idle — everyone just holds. Second, even if you wanted a strong corrective move, the fair share is C over N, and N — the flow count — simply is not in the INT signal. The only N-free sender mechanism is additive nudging, which we just showed is hopelessly slow. Conclusion: put the fair-share computation where N is implicitly visible — the link. That's a 20-year-old idea: RCP.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Blue bars: HPCC-FS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HPCC-FS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fairness buy on a workload operators care about? Collective communication: an allreduce step finishes when its slowest flow finishes, and the slowest flows are exactly the cross-pod multi-bottleneck ones stock HPCC starves. A 16-flow ring allreduce across five ECMP hash seeds: HPCC-FS cuts job completion time about 21 percent at every seed, and makes it placement-invariant. And a nuance we like being honest about: in this mix the short background flows also got three times faster — under winner-take-all, whether a short flow wins or loses is a placement lottery; max-min removes the lottery.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HPCC-FS match or beat HPCC's FCT while holding a quarter of the queue. On what we measured, the fairness fix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fix — one field, one scalar — that lands within half a percent of the max-min oracle with zero PFC, leaving stock HPCC byte-for-byte intact.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for</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High-Precision Congestion Control</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HPCC-FS — one fair-rate field, one scalar per switch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Users/tiffanyzhang/uno-hpcc/examples/hpcc/hpcc-fs/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Five sender-only fixes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Two structural reasons sender-only cannot work</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N is not observable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Fair share is C / N. INT tells the sender C — never N, the link’s flow count.</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Without N there is no strong multiplicative move toward fair share — only slow AIMD nudging.</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The information isn’t at the sender — so the fix can’t be either. It belongs at the link.</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HPCC-FS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an operating mode selected per traffic class — not a replacement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Users/tiffanyzhang/uno-hpcc/examples/hpcc/hpcc-fs/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Users/tiffanyzhang/uno-hpcc/examples/hpcc/hpcc-fs/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HPCC-FS within 1.0 ± 0.012 (worst stock case 3.53× → 1.012×)</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HPCC-FS</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Across 5 hash seeds the raw ratio is placement-dominated; HPCC-FS ≤ stock at every seed.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job is gated by its slowest flow: −21% JCT</a:t>
            </a:r>
            <a:endParaRPr lang="en-US" sz="2700" dirty="0"/>
          </a:p>
        </p:txBody>
      </p:sp>
      <p:graphicFrame>
        <p:nvGraphicFramePr>
          <p:cNvPr id="4" name="Chart 0" descr=""/>
          <p:cNvGraphicFramePr/>
          <p:nvPr/>
        </p:nvGraphicFramePr>
        <p:xfrm>
          <a:off x="502920" y="132588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20040" y="4416552"/>
            <a:ext cx="5486400" cy="320040"/>
          </a:xfrm>
          <a:prstGeom prst="rect">
            <a:avLst/>
          </a:prstGeom>
          <a:noFill/>
          <a:ln/>
        </p:spPr>
        <p:txBody>
          <a:bodyPr wrap="square" rtlCol="0" anchor="ctr"/>
          <a:lstStyle/>
          <a:p>
            <a:pPr algn="ctr" indent="0" marL="0">
              <a:buNone/>
            </a:pPr>
            <a:r>
              <a:rPr lang="en-US" sz="1050" i="1" dirty="0">
                <a:solidFill>
                  <a:srgbClr val="5B6675"/>
                </a:solidFill>
                <a:latin typeface="Calibri" pitchFamily="34" charset="0"/>
                <a:ea typeface="Calibri" pitchFamily="34" charset="-122"/>
                <a:cs typeface="Calibri" pitchFamily="34" charset="-120"/>
              </a:rPr>
              <a:t>16-flow ring allreduce, k=4 fat-tree — JCT = slowest flow (ms), 5 ECMP hash seeds</a:t>
            </a:r>
            <a:endParaRPr lang="en-US" sz="1050" dirty="0"/>
          </a:p>
        </p:txBody>
      </p:sp>
      <p:sp>
        <p:nvSpPr>
          <p:cNvPr id="6" name="Shape 3"/>
          <p:cNvSpPr/>
          <p:nvPr/>
        </p:nvSpPr>
        <p:spPr>
          <a:xfrm>
            <a:off x="5806440" y="1325880"/>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99032"/>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−21%</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mean JCT — improves at every seed (+19.5…+22.7%)</a:t>
            </a:r>
            <a:endParaRPr lang="en-US" sz="1700" dirty="0"/>
          </a:p>
        </p:txBody>
      </p:sp>
      <p:sp>
        <p:nvSpPr>
          <p:cNvPr id="8" name="Shape 5"/>
          <p:cNvSpPr/>
          <p:nvPr/>
        </p:nvSpPr>
        <p:spPr>
          <a:xfrm>
            <a:off x="5806440" y="2359152"/>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9" name="Text 6"/>
          <p:cNvSpPr/>
          <p:nvPr/>
        </p:nvSpPr>
        <p:spPr>
          <a:xfrm>
            <a:off x="5989320" y="2432304"/>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17.9–18.0 ms</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FS JCT is placement-invariant (stock 22.3–23.3)</a:t>
            </a:r>
            <a:endParaRPr lang="en-US" sz="1700" dirty="0"/>
          </a:p>
        </p:txBody>
      </p:sp>
      <p:sp>
        <p:nvSpPr>
          <p:cNvPr id="10" name="Shape 7"/>
          <p:cNvSpPr/>
          <p:nvPr/>
        </p:nvSpPr>
        <p:spPr>
          <a:xfrm>
            <a:off x="5806440" y="3392424"/>
            <a:ext cx="288036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1" name="Text 8"/>
          <p:cNvSpPr/>
          <p:nvPr/>
        </p:nvSpPr>
        <p:spPr>
          <a:xfrm>
            <a:off x="5989320" y="3465576"/>
            <a:ext cx="2560320" cy="786384"/>
          </a:xfrm>
          <a:prstGeom prst="rect">
            <a:avLst/>
          </a:prstGeom>
          <a:noFill/>
          <a:ln/>
        </p:spPr>
        <p:txBody>
          <a:bodyPr wrap="square" lIns="0" tIns="0" rIns="0" bIns="0" rtlCol="0" anchor="ctr"/>
          <a:lstStyle/>
          <a:p>
            <a:pPr indent="0" marL="0">
              <a:buNone/>
            </a:pPr>
            <a:r>
              <a:rPr lang="en-US" sz="1700" b="1" dirty="0">
                <a:solidFill>
                  <a:srgbClr val="1A7F37"/>
                </a:solidFill>
                <a:latin typeface="Cambria" pitchFamily="34" charset="0"/>
                <a:ea typeface="Cambria" pitchFamily="34" charset="-122"/>
                <a:cs typeface="Cambria" pitchFamily="34" charset="-120"/>
              </a:rPr>
              <a:t>~3× faster</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short background flows in this mix — max-min removes the placement lottery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HPCC-FS is a mode, not a repair.  </a:t>
            </a:r>
            <a:pPr indent="0" marL="0">
              <a:buNone/>
            </a:pPr>
            <a:r>
              <a:rPr lang="en-US" sz="1250" dirty="0">
                <a:solidFill>
                  <a:srgbClr val="5B6675"/>
                </a:solidFill>
                <a:latin typeface="Calibri" pitchFamily="34" charset="0"/>
                <a:ea typeface="Calibri" pitchFamily="34" charset="-122"/>
                <a:cs typeface="Calibri" pitchFamily="34" charset="-120"/>
              </a:rPr>
              <a:t>We claim the diagnosis and the placement. HPCC-FS coexists with stock HPCC per traffic class; mixed classes sharing links are future work.</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~4 ms, not one RTT.  </a:t>
            </a:r>
            <a:pPr indent="0" marL="0">
              <a:buNone/>
            </a:pPr>
            <a:r>
              <a:rPr lang="en-US" sz="1250" dirty="0">
                <a:solidFill>
                  <a:srgbClr val="5B6675"/>
                </a:solidFill>
                <a:latin typeface="Calibri" pitchFamily="34" charset="0"/>
                <a:ea typeface="Calibri" pitchFamily="34" charset="-122"/>
                <a:cs typeface="Calibri" pitchFamily="34" charset="-120"/>
              </a:rPr>
              <a:t>Fast and path-length-independent — the per-port estimate needs ~10² RTTs to settle.</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a coexisting fairness mode</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Five sender-only fixes fail: at η-hold, no strong move exists without the flow count N.</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HPCC-FS</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per-class mode alongside HPCC: 1.005×, zero PFC, −21% coflow JCT, stock path untouched.</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HPCC-FS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for High-Precision Congestion Control (HPCC-FS)</dc:title>
  <dc:subject>PptxGenJS Presentation</dc:subject>
  <dc:creator>Haoyu Wang</dc:creator>
  <cp:lastModifiedBy>Haoyu Wang</cp:lastModifiedBy>
  <cp:revision>1</cp:revision>
  <dcterms:created xsi:type="dcterms:W3CDTF">2026-07-08T16:36:57Z</dcterms:created>
  <dcterms:modified xsi:type="dcterms:W3CDTF">2026-07-08T16:36:57Z</dcterms:modified>
</cp:coreProperties>
</file>