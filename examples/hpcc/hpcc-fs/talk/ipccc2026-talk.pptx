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3.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stock HPCC</c:v>
                </c:pt>
              </c:strCache>
            </c:strRef>
          </c:tx>
          <c:spPr>
            <a:solidFill>
              <a:srgbClr val="C0504D"/>
            </a:solidFill>
            <a:effectLst/>
          </c:spPr>
          <c:invertIfNegative val="0"/>
          <c:dLbls>
            <c:numFmt formatCode="0.00" sourceLinked="0"/>
            <c:txPr>
              <a:bodyPr/>
              <a:lstStyle/>
              <a:p>
                <a:pPr>
                  <a:defRPr b="0" i="0" strike="noStrike" sz="1100" u="none">
                    <a:solidFill>
                      <a:srgbClr val="1F2733"/>
                    </a:solidFill>
                    <a:latin typeface="Arial"/>
                  </a:defRPr>
                </a:pPr>
              </a:p>
            </c:txPr>
            <c:showLegendKey val="0"/>
            <c:showVal val="1"/>
            <c:showCatName val="0"/>
            <c:showSerName val="0"/>
            <c:showPercent val="0"/>
            <c:showBubbleSize val="0"/>
            <c:showLeaderLines val="0"/>
          </c:dLbls>
          <c:cat>
            <c:multiLvlStrRef>
              <c:f>Sheet1!$A$2:$A$4</c:f>
              <c:multiLvlStrCache>
                <c:ptCount val="3"/>
                <c:lvl>
                  <c:pt idx="0">
                    <c:v>N=2</c:v>
                  </c:pt>
                  <c:pt idx="1">
                    <c:v>N=3</c:v>
                  </c:pt>
                  <c:pt idx="2">
                    <c:v>N=4</c:v>
                  </c:pt>
                </c:lvl>
              </c:multiLvlStrCache>
            </c:multiLvlStrRef>
          </c:cat>
          <c:val>
            <c:numRef>
              <c:f>Sheet1!$B$2:$B$4</c:f>
              <c:numCache>
                <c:formatCode>General</c:formatCode>
                <c:ptCount val="3"/>
                <c:pt idx="0">
                  <c:v>1.9</c:v>
                </c:pt>
                <c:pt idx="1">
                  <c:v>1.92</c:v>
                </c:pt>
                <c:pt idx="2">
                  <c:v>1.96</c:v>
                </c:pt>
              </c:numCache>
            </c:numRef>
          </c:val>
        </c:ser>
        <c:ser>
          <c:idx val="1"/>
          <c:order val="1"/>
          <c:tx>
            <c:strRef>
              <c:f>Sheet1!$C$1</c:f>
              <c:strCache>
                <c:ptCount val="1"/>
                <c:pt idx="0">
                  <c:v>multi-rate HPCC</c:v>
                </c:pt>
              </c:strCache>
            </c:strRef>
          </c:tx>
          <c:spPr>
            <a:solidFill>
              <a:srgbClr val="9BBB59"/>
            </a:solidFill>
            <a:effectLst/>
          </c:spPr>
          <c:invertIfNegative val="0"/>
          <c:dLbls>
            <c:numFmt formatCode="0.00" sourceLinked="0"/>
            <c:txPr>
              <a:bodyPr/>
              <a:lstStyle/>
              <a:p>
                <a:pPr>
                  <a:defRPr b="0" i="0" strike="noStrike" sz="1100" u="none">
                    <a:solidFill>
                      <a:srgbClr val="1F2733"/>
                    </a:solidFill>
                    <a:latin typeface="Arial"/>
                  </a:defRPr>
                </a:pPr>
              </a:p>
            </c:txPr>
            <c:showLegendKey val="0"/>
            <c:showVal val="1"/>
            <c:showCatName val="0"/>
            <c:showSerName val="0"/>
            <c:showPercent val="0"/>
            <c:showBubbleSize val="0"/>
            <c:showLeaderLines val="0"/>
          </c:dLbls>
          <c:cat>
            <c:multiLvlStrRef>
              <c:f>Sheet1!$A$2:$A$4</c:f>
              <c:multiLvlStrCache>
                <c:ptCount val="3"/>
                <c:lvl>
                  <c:pt idx="0">
                    <c:v>N=2</c:v>
                  </c:pt>
                  <c:pt idx="1">
                    <c:v>N=3</c:v>
                  </c:pt>
                  <c:pt idx="2">
                    <c:v>N=4</c:v>
                  </c:pt>
                </c:lvl>
              </c:multiLvlStrCache>
            </c:multiLvlStrRef>
          </c:cat>
          <c:val>
            <c:numRef>
              <c:f>Sheet1!$C$2:$C$4</c:f>
              <c:numCache>
                <c:formatCode>General</c:formatCode>
                <c:ptCount val="3"/>
                <c:pt idx="0">
                  <c:v>1.44</c:v>
                </c:pt>
                <c:pt idx="1">
                  <c:v>1.5</c:v>
                </c:pt>
                <c:pt idx="2">
                  <c:v>1.75</c:v>
                </c:pt>
              </c:numCache>
            </c:numRef>
          </c:val>
        </c:ser>
        <c:dLbls>
          <c:numFmt formatCode="0.00" sourceLinked="0"/>
          <c:txPr>
            <a:bodyPr/>
            <a:lstStyle/>
            <a:p>
              <a:pPr>
                <a:defRPr b="0" i="0" strike="noStrike" sz="1100" u="none">
                  <a:solidFill>
                    <a:srgbClr val="1F273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675"/>
                </a:solidFill>
                <a:latin typeface="Arial"/>
              </a:defRPr>
            </a:pPr>
            <a:endParaRPr lang="en-US"/>
          </a:p>
        </c:txPr>
        <c:crossAx val="2094734552"/>
        <c:crosses val="autoZero"/>
        <c:auto val="1"/>
        <c:lblAlgn val="ctr"/>
        <c:noMultiLvlLbl val="1"/>
      </c:catAx>
      <c:valAx>
        <c:axId val="2094734552"/>
        <c:scaling>
          <c:orientation val="minMax"/>
          <c:max val="2.2"/>
          <c:min val="0"/>
        </c:scaling>
        <c:delete val="0"/>
        <c:axPos val="l"/>
        <c:majorGridlines>
          <c:spPr>
            <a:ln w="6350" cap="flat">
              <a:solidFill>
                <a:srgbClr val="E4E9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675"/>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a:solidFill>
                <a:srgbClr val="5B6675"/>
              </a:solidFill>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goodput during contention (Gbps)</c:v>
                </c:pt>
              </c:strCache>
            </c:strRef>
          </c:tx>
          <c:spPr>
            <a:solidFill>
              <a:srgbClr val="C0504D"/>
            </a:solidFill>
            <a:effectLst/>
          </c:spPr>
          <c:invertIfNegative val="0"/>
          <c:dLbls>
            <c:numFmt formatCode="0.0#" sourceLinked="0"/>
            <c:txPr>
              <a:bodyPr/>
              <a:lstStyle/>
              <a:p>
                <a:pPr>
                  <a:defRPr b="0" i="0" strike="noStrike" sz="1100" u="none">
                    <a:solidFill>
                      <a:srgbClr val="1F2733"/>
                    </a:solidFill>
                    <a:latin typeface="Arial"/>
                  </a:defRPr>
                </a:pPr>
              </a:p>
            </c:txPr>
            <c:showLegendKey val="0"/>
            <c:showVal val="1"/>
            <c:showCatName val="0"/>
            <c:showSerName val="0"/>
            <c:showPercent val="0"/>
            <c:showBubbleSize val="0"/>
            <c:showLeaderLines val="0"/>
          </c:dLbls>
          <c:cat>
            <c:multiLvlStrRef>
              <c:f>Sheet1!$A$2:$A$6</c:f>
              <c:multiLvlStrCache>
                <c:ptCount val="5"/>
                <c:lvl>
                  <c:pt idx="0">
                    <c:v>cross flow 1</c:v>
                  </c:pt>
                  <c:pt idx="1">
                    <c:v>cross flow 2</c:v>
                  </c:pt>
                  <c:pt idx="2">
                    <c:v>cross flow 3</c:v>
                  </c:pt>
                  <c:pt idx="3">
                    <c:v>cross flow 4</c:v>
                  </c:pt>
                  <c:pt idx="4">
                    <c:v>long flow</c:v>
                  </c:pt>
                </c:lvl>
              </c:multiLvlStrCache>
            </c:multiLvlStrRef>
          </c:cat>
          <c:val>
            <c:numRef>
              <c:f>Sheet1!$B$2:$B$6</c:f>
              <c:numCache>
                <c:formatCode>General</c:formatCode>
                <c:ptCount val="5"/>
                <c:pt idx="0">
                  <c:v>23.2</c:v>
                </c:pt>
                <c:pt idx="1">
                  <c:v>23.2</c:v>
                </c:pt>
                <c:pt idx="2">
                  <c:v>23.2</c:v>
                </c:pt>
                <c:pt idx="3">
                  <c:v>23.2</c:v>
                </c:pt>
                <c:pt idx="4">
                  <c:v>0.38</c:v>
                </c:pt>
              </c:numCache>
            </c:numRef>
          </c:val>
        </c:ser>
        <c:dLbls>
          <c:numFmt formatCode="0.0#" sourceLinked="0"/>
          <c:txPr>
            <a:bodyPr/>
            <a:lstStyle/>
            <a:p>
              <a:pPr>
                <a:defRPr b="0" i="0" strike="noStrike" sz="1100" u="none">
                  <a:solidFill>
                    <a:srgbClr val="1F273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B6675"/>
                </a:solidFill>
                <a:latin typeface="Arial"/>
              </a:defRPr>
            </a:pPr>
            <a:endParaRPr lang="en-US"/>
          </a:p>
        </c:txPr>
        <c:crossAx val="2094734552"/>
        <c:crosses val="autoZero"/>
        <c:auto val="1"/>
        <c:lblAlgn val="ctr"/>
        <c:noMultiLvlLbl val="1"/>
      </c:catAx>
      <c:valAx>
        <c:axId val="2094734552"/>
        <c:scaling>
          <c:orientation val="minMax"/>
          <c:max val="25"/>
        </c:scaling>
        <c:delete val="0"/>
        <c:axPos val="b"/>
        <c:majorGridlines>
          <c:spPr>
            <a:ln w="6350" cap="flat">
              <a:solidFill>
                <a:srgbClr val="E4E9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B6675"/>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stock HPCC</c:v>
                </c:pt>
              </c:strCache>
            </c:strRef>
          </c:tx>
          <c:spPr>
            <a:solidFill>
              <a:srgbClr val="C0504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seed 0</c:v>
                  </c:pt>
                  <c:pt idx="1">
                    <c:v>seed 101</c:v>
                  </c:pt>
                  <c:pt idx="2">
                    <c:v>seed 202</c:v>
                  </c:pt>
                  <c:pt idx="3">
                    <c:v>seed 303</c:v>
                  </c:pt>
                  <c:pt idx="4">
                    <c:v>seed 404</c:v>
                  </c:pt>
                </c:lvl>
              </c:multiLvlStrCache>
            </c:multiLvlStrRef>
          </c:cat>
          <c:val>
            <c:numRef>
              <c:f>Sheet1!$B$2:$B$6</c:f>
              <c:numCache>
                <c:formatCode>General</c:formatCode>
                <c:ptCount val="5"/>
                <c:pt idx="0">
                  <c:v>23.27</c:v>
                </c:pt>
                <c:pt idx="1">
                  <c:v>22.44</c:v>
                </c:pt>
                <c:pt idx="2">
                  <c:v>23.22</c:v>
                </c:pt>
                <c:pt idx="3">
                  <c:v>22.33</c:v>
                </c:pt>
                <c:pt idx="4">
                  <c:v>23.11</c:v>
                </c:pt>
              </c:numCache>
            </c:numRef>
          </c:val>
        </c:ser>
        <c:ser>
          <c:idx val="1"/>
          <c:order val="1"/>
          <c:tx>
            <c:strRef>
              <c:f>Sheet1!$C$1</c:f>
              <c:strCache>
                <c:ptCount val="1"/>
                <c:pt idx="0">
                  <c:v>RDMA-RCP</c:v>
                </c:pt>
              </c:strCache>
            </c:strRef>
          </c:tx>
          <c:spPr>
            <a:solidFill>
              <a:srgbClr val="4F81B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seed 0</c:v>
                  </c:pt>
                  <c:pt idx="1">
                    <c:v>seed 101</c:v>
                  </c:pt>
                  <c:pt idx="2">
                    <c:v>seed 202</c:v>
                  </c:pt>
                  <c:pt idx="3">
                    <c:v>seed 303</c:v>
                  </c:pt>
                  <c:pt idx="4">
                    <c:v>seed 404</c:v>
                  </c:pt>
                </c:lvl>
              </c:multiLvlStrCache>
            </c:multiLvlStrRef>
          </c:cat>
          <c:val>
            <c:numRef>
              <c:f>Sheet1!$C$2:$C$6</c:f>
              <c:numCache>
                <c:formatCode>General</c:formatCode>
                <c:ptCount val="5"/>
                <c:pt idx="0">
                  <c:v>17.99</c:v>
                </c:pt>
                <c:pt idx="1">
                  <c:v>17.96</c:v>
                </c:pt>
                <c:pt idx="2">
                  <c:v>17.99</c:v>
                </c:pt>
                <c:pt idx="3">
                  <c:v>17.97</c:v>
                </c:pt>
                <c:pt idx="4">
                  <c:v>17.92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675"/>
                </a:solidFill>
                <a:latin typeface="Arial"/>
              </a:defRPr>
            </a:pPr>
            <a:endParaRPr lang="en-US"/>
          </a:p>
        </c:txPr>
        <c:crossAx val="2094734552"/>
        <c:crosses val="autoZero"/>
        <c:auto val="1"/>
        <c:lblAlgn val="ctr"/>
        <c:noMultiLvlLbl val="1"/>
      </c:catAx>
      <c:valAx>
        <c:axId val="2094734552"/>
        <c:scaling>
          <c:orientation val="minMax"/>
          <c:max val="26"/>
          <c:min val="0"/>
        </c:scaling>
        <c:delete val="0"/>
        <c:axPos val="l"/>
        <c:majorGridlines>
          <c:spPr>
            <a:ln w="6350" cap="flat">
              <a:solidFill>
                <a:srgbClr val="E4E9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675"/>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a:solidFill>
                <a:srgbClr val="5B6675"/>
              </a:solidFil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This talk is about a fairness blind spot in HPCC — the SIGCOMM'19 INT-based congestion control — and a deliberately minimal switch-side alternative: an operating mode that coexists with stock HPCC on the same fabric. The one-line story: a flow crossing several bottlenecks gets half its fair share, no sender-side correction we tried can close the gap, and one fair-rate scalar per switch port — offered as a per-class mode, not a replacement — closes it completely.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 of HPCC for those who haven't seen it: switches stamp raw telemetry into every packet, the sender computes a precise utilization estimate and drives it to 95%. It is excellent on the benchmarks it was designed for. Keep one detail in mind: the INT record is per-hop — 8 bytes per switch, capped at 5 hops — and it carries load, not entitlement.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care about multi-bottleneck paths? Three growing traffic classes cross several contended links in series. HPCC's evaluation — like most DC transport work — is single-bottleneck-centric. So the question of this paper is simply: does the fairness survive? Our methodology is deterministic simulation scored against a fluid max-min oracle, so every number you'll see is exactly reproducible.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classic parking lot: a long flow crosses every bottleneck, one cross flow per link. Because every link is equally contended, max-min says everyone gets the same 12.5 Gbps — so any gap between the long flow and the cross flows is pure multi-bottleneck unfairness. We score against an event-driven progressive-filling oracle, and everything is deterministic.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finding: stock HPCC starves the long flow by roughly 2x at N=2 through 4, and the effect grows. HPCC's own multi-rate mode helps but doesn't fix it. It's worse — 3.5x — exactly where it hurts most: small, latency-sensitive flows. And past four bottlenecks the per-hop INT record overflows its hop cap and the control input is corrupted outright. Also robust: asymmetric sizes, staggered starts, and RTT equalization don't move it — this is not RTT unfairness.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it looks like inside: four cross flows sit at 23 Gbps each while the long flow is pinned at 0.4 — for the entire contention window. The crucial observation: nothing is broken. No PFC, no loss, links at target utilization. The starvation IS the equilibrium of the control law. That reframes the problem: you can't patch a symptom; you have to change what information the control loop 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instinct — and probably yours — was to fix this at the sender, keeping HPCC's stateless-switch story intact. We built five heuristic variants spanning the design space — best case 1.63, target 1.0 — and then the strongest possible sender design: a full mirror of the RCP recursion, run privately per hop from the same INT-visible inputs the switch would use. The mirror still fails: 1.56 even with synchronized starts, 1.65 or 0.81 under staggered arrival — the direction of unfairness set by arrival order — while the identical law at the switch holds 1.0. That is the next slide's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reasons. First, at eta-hold, HPCC's multiplicative machinery goes idle — everyone holds what they grabbed. Second — and this is the paper's sharpest experiment — the obstacle is NOT information. RCP's inputs are all sender-visible in INT, so we ran the most direct sender design: a private per-hop RCP mirror. Same law, same inputs, same gains. It still fails, and the direction of unfairness flips with arrival order — because independently maintained rate state preserves arrival-history asymmetry forever, while a shared register erases it. Per-flow fair queueing sharpens it: windowed senders leave 1.97 times; remove the window and DRR equalizes — but at thirteen times every flow's oracle completion time, equal but idle. Scheduling enforces equality; the max-min allocation — equal shares at full utilization — also needs a rate signal telling senders how much to offer. That is the corrected placement result, and it is why the rate belongs in the switch.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RCP in one equation. Each link keeps a single rate R — the rate every flow crossing it should send at. Alpha chases spare capacity upward, beta brakes on queue. Those balance only when the link is exactly full with no standing queue — which with N flows each sending R means N times R equals C. So R converges to C over N without the switch ever counting flows: N is implicit in the load. This is exactly the missing ingredient from the previous slide, computed exactly where it's observable.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worked example with asymmetric contention. Link 1 carries three flows, so its RCP loop settles at a third of capacity. On link 2, the long flow arrives already capped at 33 — it offers less load, so R2 keeps rising until the link fills at 66.7 for the local cross flow. The packet picks up the minimum along its path. Result: exactly max-min — the long flow equalized where it's tightest, and the slack it can't use is automatically handed to c. No switch counted flows; no switch kept per-flow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mechanism fits on one slide, and that's the point. Per egress port: one fair-rate scalar updated by the RCP rule. On the wire: a new INT mode carrying a single 64-bit field, min-aggregated hop by hop — 8 bytes per packet regardless of path length, versus 8 bytes per hop for stock HPCC. At the sender: one new ACK handler that adopts the path minimum. Two honest notes: FS mode runs rate-only — the per-flow window cap is off, and we'll show that's necessary, not incidental — and the stock code path is untouched, byte for byte.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 and it is not just HPCC: on the same benchmark DCQCN runs 1.7 to 2.3, TIMELY 1.8 to 2.0, DCTCP 1.6 to 1.8, PowerTCP — ported from the authors' own code — 1.8 to 1.9, all growing with N. Multi-bottleneck unfairness is endemic to deployable RDMA CC. Blue bars: RDMA-RCP sits at 1.003 to 1.007 across the entire sweep — including N of 5 and 6 where stock HPCC's wire format breaks, because one field doesn't grow with path length. Zero PFC everywhere. And an important control: HPCC-PINT, which also carries a single compressed field but still carries *load*, stays at 1.8x — so it's not about telemetry size, it's about carrying a fair share instead of a load sample.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Robustness and generalization. Left: six perturbations — asymmetric sizes, staggered starts, including the 3.5x small-flow worst case — RDMA-RCP stays within about one percent of the oracle. Right: a 3-tier tree and a k=4 ECMP fat-tree, where the oracle-normalized penalty lands at 1.001; the path-min aggregation is inherently path-invariant, so ECMP needed no design work. Zero PFC across all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fairness buy on a workload operators care about? Collective communication: an allreduce step finishes when its slowest flow finishes, and the slowest flows are exactly the cross-pod multi-bottleneck ones stock HPCC starves. A 16-flow ring coflow — one phase of a ring allreduce — across five ECMP hash seeds: RDMA-RCP cuts completion time 18 to 23 percent at every seed tested, and 18 percent survives padding the INT header to stock size, so the gain is fairness, not header thinness. On a saturating k-equals-6 fabric with 108 inter-pod flows, makespan improves 14 percent — 11 with the header padded — with Jain's index rising and zero PFC at 45 switches. And it compounds: the full 30-phase allreduce, scheduled with real per-rank pipelined dependencies rather than global barriers, finishes 21 percent sooner end-to-end — 22 barrier-synchronized, 17 with the padded header — stable across three ECMP placements. And the short background flows got three times faster — under near-winner-take-all dynamics, a short flow's fate is a placement lottery; max-min removes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defensibility checks. One: disabling the window is necessary, not a convenience — put it back and the penalty returns, growing with path length, because HPCC's window is sized for the NIC, not the path. Two: we did not tune RCP — the textbook defaults, and one-at-a-time sweeps barely move the result. Three: the cost question — on HPCC's home turf, a single-bottleneck incast, a moderate startup rate makes RDMA-RCP match or beat HPCC's FCT while holding a quarter of the queue. On what we measured, the fairness mode is not a trade-off.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deliberately explicit about scope. The mechanism is RCP — our contribution is showing where the fix has to live and that placing it there is cheap. The evaluation is simulation-only; we re-ported the HPCC simulator onto modern ns-3 and verified it reproduces the original paper's baselines before building on it. If asked about PowerTCP: it IS evaluated — we ported the authors' reference implementation, validated it solo and pairwise, and it shows the same multi-bottleneck gap, 1.79 to 1.86. Bolt remains the one modern scheme we did not port. Convergence is milliseconds, not one round trip. And the natural next step is a hybrid that keeps HPCC's per-flow precision under a fair-rate ceiling — the obstacle is HPCC's NIC-sized window, which is its own interesting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a real, robust fairness failure in the state of the art; evidence that the endpoint can't fix it because the endpoint can't see the flow count; and a deliberately minimal switch mode — one field, one scalar — that lands within about one percent of the max-min oracle with zero PFC, leaving stock HPCC byte-for-byte intact. One caveat we measured and report: on an unreserved shared queue the two modes do not each get a fair share, and even a weighted-DRR reservation cannot fix it — both controllers still read port-global telemetry. Coexistence needs sliced signals or a separate fabric. Everything is in the artifact, including a full reproduction of the original HPCC baselines.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if asked whether our refactored simulator is faithful — we ran the original paper's full comparison matrix, 30 configurations, and every qualitative signature reproduces. The raw per-run configs and results are publicly archived and linked from the artifact.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common questions. Mixed sizes: yes, short flows lose some of the headroom they were borrowing from the starved long flow — that's what fairness means; policy beyond max-min is future work. And the odd N&gt;=5 numbers for stock HPCC are an artifact: the INT record physically overflows at 5 hops, so the controller is reading garbage — that's a bug surface our single-field format simply doesn't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dataplane-feasibility question: we did not build a Tofino prototype, and we say so — whether the interval test and rate update serialize inside one atomic stage is explicitly unverified, as is dequeue-time queue-depth access. What we did do is remove every arithmetic excuse: a divider-free Q16 integer build of the whole update — shift-plus-mantissa reciprocal, max error twenty-five percent — reproduces the headline results within a tenth of a percent penalty. And the exercise caught a genuine deployment hazard: keep the rate register in integer megabits and the floor-recovery path deadlocks — growth truncates to zero below about 2.5 megabits. Units, not width, were the binding choice: kilobit granularity fixes it, and 32 bits of Kbps still spans 4.3 terabits. That hazard is exactly the kind of thing you want to find in simulation before tape-out.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2761488" y="457200"/>
            <a:ext cx="3931920" cy="0"/>
          </a:xfrm>
          <a:prstGeom prst="line">
            <a:avLst/>
          </a:prstGeom>
          <a:noFill/>
          <a:ln w="38100">
            <a:solidFill>
              <a:srgbClr val="4F81BD"/>
            </a:solidFill>
            <a:prstDash val="solid"/>
          </a:ln>
        </p:spPr>
      </p:sp>
      <p:sp>
        <p:nvSpPr>
          <p:cNvPr id="3" name="Text 1"/>
          <p:cNvSpPr/>
          <p:nvPr/>
        </p:nvSpPr>
        <p:spPr>
          <a:xfrm>
            <a:off x="3840480" y="146304"/>
            <a:ext cx="1645920" cy="274320"/>
          </a:xfrm>
          <a:prstGeom prst="rect">
            <a:avLst/>
          </a:prstGeom>
          <a:noFill/>
          <a:ln/>
        </p:spPr>
        <p:txBody>
          <a:bodyPr wrap="square" lIns="0" tIns="0" rIns="0" bIns="0" rtlCol="0" anchor="ctr"/>
          <a:lstStyle/>
          <a:p>
            <a:pPr algn="ctr" indent="0" marL="0">
              <a:buNone/>
            </a:pPr>
            <a:r>
              <a:rPr lang="en-US" sz="1000" i="1" dirty="0">
                <a:solidFill>
                  <a:srgbClr val="8FB0DC"/>
                </a:solidFill>
                <a:latin typeface="Calibri" pitchFamily="34" charset="0"/>
                <a:ea typeface="Calibri" pitchFamily="34" charset="-122"/>
                <a:cs typeface="Calibri" pitchFamily="34" charset="-120"/>
              </a:rPr>
              <a:t>long flow</a:t>
            </a:r>
            <a:endParaRPr lang="en-US" sz="1000" dirty="0"/>
          </a:p>
        </p:txBody>
      </p:sp>
      <p:sp>
        <p:nvSpPr>
          <p:cNvPr id="4" name="Shape 2"/>
          <p:cNvSpPr/>
          <p:nvPr/>
        </p:nvSpPr>
        <p:spPr>
          <a:xfrm>
            <a:off x="2962656" y="868680"/>
            <a:ext cx="649224" cy="0"/>
          </a:xfrm>
          <a:prstGeom prst="line">
            <a:avLst/>
          </a:prstGeom>
          <a:noFill/>
          <a:ln w="50800">
            <a:solidFill>
              <a:srgbClr val="C0504D"/>
            </a:solidFill>
            <a:prstDash val="solid"/>
          </a:ln>
        </p:spPr>
      </p:sp>
      <p:sp>
        <p:nvSpPr>
          <p:cNvPr id="5" name="Shape 3"/>
          <p:cNvSpPr/>
          <p:nvPr/>
        </p:nvSpPr>
        <p:spPr>
          <a:xfrm>
            <a:off x="3922776" y="868680"/>
            <a:ext cx="649224" cy="0"/>
          </a:xfrm>
          <a:prstGeom prst="line">
            <a:avLst/>
          </a:prstGeom>
          <a:noFill/>
          <a:ln w="50800">
            <a:solidFill>
              <a:srgbClr val="C0504D"/>
            </a:solidFill>
            <a:prstDash val="solid"/>
          </a:ln>
        </p:spPr>
      </p:sp>
      <p:sp>
        <p:nvSpPr>
          <p:cNvPr id="6" name="Shape 4"/>
          <p:cNvSpPr/>
          <p:nvPr/>
        </p:nvSpPr>
        <p:spPr>
          <a:xfrm>
            <a:off x="4882896" y="868680"/>
            <a:ext cx="649224" cy="0"/>
          </a:xfrm>
          <a:prstGeom prst="line">
            <a:avLst/>
          </a:prstGeom>
          <a:noFill/>
          <a:ln w="50800">
            <a:solidFill>
              <a:srgbClr val="C0504D"/>
            </a:solidFill>
            <a:prstDash val="solid"/>
          </a:ln>
        </p:spPr>
      </p:sp>
      <p:sp>
        <p:nvSpPr>
          <p:cNvPr id="7" name="Shape 5"/>
          <p:cNvSpPr/>
          <p:nvPr/>
        </p:nvSpPr>
        <p:spPr>
          <a:xfrm>
            <a:off x="5843016" y="868680"/>
            <a:ext cx="649224" cy="0"/>
          </a:xfrm>
          <a:prstGeom prst="line">
            <a:avLst/>
          </a:prstGeom>
          <a:noFill/>
          <a:ln w="50800">
            <a:solidFill>
              <a:srgbClr val="C0504D"/>
            </a:solidFill>
            <a:prstDash val="solid"/>
          </a:ln>
        </p:spPr>
      </p:sp>
      <p:sp>
        <p:nvSpPr>
          <p:cNvPr id="8" name="Shape 6"/>
          <p:cNvSpPr/>
          <p:nvPr/>
        </p:nvSpPr>
        <p:spPr>
          <a:xfrm>
            <a:off x="2651760" y="713232"/>
            <a:ext cx="310896" cy="310896"/>
          </a:xfrm>
          <a:prstGeom prst="ellipse">
            <a:avLst/>
          </a:prstGeom>
          <a:solidFill>
            <a:srgbClr val="CADCFC"/>
          </a:solidFill>
          <a:ln/>
        </p:spPr>
      </p:sp>
      <p:sp>
        <p:nvSpPr>
          <p:cNvPr id="9" name="Shape 7"/>
          <p:cNvSpPr/>
          <p:nvPr/>
        </p:nvSpPr>
        <p:spPr>
          <a:xfrm>
            <a:off x="3611880" y="713232"/>
            <a:ext cx="310896" cy="310896"/>
          </a:xfrm>
          <a:prstGeom prst="ellipse">
            <a:avLst/>
          </a:prstGeom>
          <a:solidFill>
            <a:srgbClr val="CADCFC"/>
          </a:solidFill>
          <a:ln/>
        </p:spPr>
      </p:sp>
      <p:sp>
        <p:nvSpPr>
          <p:cNvPr id="10" name="Shape 8"/>
          <p:cNvSpPr/>
          <p:nvPr/>
        </p:nvSpPr>
        <p:spPr>
          <a:xfrm>
            <a:off x="4572000" y="713232"/>
            <a:ext cx="310896" cy="310896"/>
          </a:xfrm>
          <a:prstGeom prst="ellipse">
            <a:avLst/>
          </a:prstGeom>
          <a:solidFill>
            <a:srgbClr val="CADCFC"/>
          </a:solidFill>
          <a:ln/>
        </p:spPr>
      </p:sp>
      <p:sp>
        <p:nvSpPr>
          <p:cNvPr id="11" name="Shape 9"/>
          <p:cNvSpPr/>
          <p:nvPr/>
        </p:nvSpPr>
        <p:spPr>
          <a:xfrm>
            <a:off x="5532120" y="713232"/>
            <a:ext cx="310896" cy="310896"/>
          </a:xfrm>
          <a:prstGeom prst="ellipse">
            <a:avLst/>
          </a:prstGeom>
          <a:solidFill>
            <a:srgbClr val="CADCFC"/>
          </a:solidFill>
          <a:ln/>
        </p:spPr>
      </p:sp>
      <p:sp>
        <p:nvSpPr>
          <p:cNvPr id="12" name="Shape 10"/>
          <p:cNvSpPr/>
          <p:nvPr/>
        </p:nvSpPr>
        <p:spPr>
          <a:xfrm>
            <a:off x="6492240" y="713232"/>
            <a:ext cx="310896" cy="310896"/>
          </a:xfrm>
          <a:prstGeom prst="ellipse">
            <a:avLst/>
          </a:prstGeom>
          <a:solidFill>
            <a:srgbClr val="CADCFC"/>
          </a:solidFill>
          <a:ln/>
        </p:spPr>
      </p:sp>
      <p:sp>
        <p:nvSpPr>
          <p:cNvPr id="13" name="Text 11"/>
          <p:cNvSpPr/>
          <p:nvPr/>
        </p:nvSpPr>
        <p:spPr>
          <a:xfrm>
            <a:off x="640080" y="1554480"/>
            <a:ext cx="7863840" cy="1371600"/>
          </a:xfrm>
          <a:prstGeom prst="rect">
            <a:avLst/>
          </a:prstGeom>
          <a:noFill/>
          <a:ln/>
        </p:spPr>
        <p:txBody>
          <a:bodyPr wrap="square" rtlCol="0" anchor="ctr"/>
          <a:lstStyle/>
          <a:p>
            <a:pPr algn="ctr" indent="0" marL="0">
              <a:buNone/>
            </a:pPr>
            <a:r>
              <a:rPr lang="en-US" sz="3300" b="1" dirty="0">
                <a:solidFill>
                  <a:srgbClr val="FFFFFF"/>
                </a:solidFill>
                <a:latin typeface="Cambria" pitchFamily="34" charset="0"/>
                <a:ea typeface="Cambria" pitchFamily="34" charset="-122"/>
                <a:cs typeface="Cambria" pitchFamily="34" charset="-120"/>
              </a:rPr>
              <a:t>Multi-Bottleneck Fairness on RDMA Fabrics:</a:t>
            </a:r>
            <a:endParaRPr lang="en-US" sz="3300" dirty="0"/>
          </a:p>
          <a:p>
            <a:pPr algn="ctr" indent="0" marL="0">
              <a:buNone/>
            </a:pPr>
            <a:r>
              <a:rPr lang="en-US" sz="3300" b="1" dirty="0">
                <a:solidFill>
                  <a:srgbClr val="FFFFFF"/>
                </a:solidFill>
                <a:latin typeface="Cambria" pitchFamily="34" charset="0"/>
                <a:ea typeface="Cambria" pitchFamily="34" charset="-122"/>
                <a:cs typeface="Cambria" pitchFamily="34" charset="-120"/>
              </a:rPr>
              <a:t>An Empirical Study</a:t>
            </a:r>
            <a:endParaRPr lang="en-US" sz="3300" dirty="0"/>
          </a:p>
        </p:txBody>
      </p:sp>
      <p:sp>
        <p:nvSpPr>
          <p:cNvPr id="14" name="Text 12"/>
          <p:cNvSpPr/>
          <p:nvPr/>
        </p:nvSpPr>
        <p:spPr>
          <a:xfrm>
            <a:off x="640080" y="2852928"/>
            <a:ext cx="7863840" cy="411480"/>
          </a:xfrm>
          <a:prstGeom prst="rect">
            <a:avLst/>
          </a:prstGeom>
          <a:noFill/>
          <a:ln/>
        </p:spPr>
        <p:txBody>
          <a:bodyPr wrap="square" rtlCol="0" anchor="ctr"/>
          <a:lstStyle/>
          <a:p>
            <a:pPr algn="ctr" indent="0" marL="0">
              <a:buNone/>
            </a:pPr>
            <a:r>
              <a:rPr lang="en-US" sz="1700" i="1" dirty="0">
                <a:solidFill>
                  <a:srgbClr val="CADCFC"/>
                </a:solidFill>
                <a:latin typeface="Calibri" pitchFamily="34" charset="0"/>
                <a:ea typeface="Calibri" pitchFamily="34" charset="-122"/>
                <a:cs typeface="Calibri" pitchFamily="34" charset="-120"/>
              </a:rPr>
              <a:t>RDMA-RCP — an RCP service mode over INT: one fair-rate field, one scalar per port</a:t>
            </a:r>
            <a:endParaRPr lang="en-US" sz="1700" dirty="0"/>
          </a:p>
        </p:txBody>
      </p:sp>
      <p:sp>
        <p:nvSpPr>
          <p:cNvPr id="15" name="Text 13"/>
          <p:cNvSpPr/>
          <p:nvPr/>
        </p:nvSpPr>
        <p:spPr>
          <a:xfrm>
            <a:off x="640080" y="3566160"/>
            <a:ext cx="7863840" cy="685800"/>
          </a:xfrm>
          <a:prstGeom prst="rect">
            <a:avLst/>
          </a:prstGeom>
          <a:noFill/>
          <a:ln/>
        </p:spPr>
        <p:txBody>
          <a:bodyPr wrap="square"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Haoyu Wang ¹ · Bo Sheng ¹ · Zerin Shaima Meem ² · Xiaoqian Zhang ²</a:t>
            </a:r>
            <a:endParaRPr lang="en-US" sz="1400" dirty="0"/>
          </a:p>
          <a:p>
            <a:pPr algn="ctr" indent="0" marL="0">
              <a:buNone/>
            </a:pPr>
            <a:r>
              <a:rPr lang="en-US" sz="1150" dirty="0">
                <a:solidFill>
                  <a:srgbClr val="9DB2D8"/>
                </a:solidFill>
                <a:latin typeface="Calibri" pitchFamily="34" charset="0"/>
                <a:ea typeface="Calibri" pitchFamily="34" charset="-122"/>
                <a:cs typeface="Calibri" pitchFamily="34" charset="-120"/>
              </a:rPr>
              <a:t>¹ University of Massachusetts Boston      ² University of Nebraska Omaha</a:t>
            </a:r>
            <a:endParaRPr lang="en-US" sz="1400" dirty="0"/>
          </a:p>
        </p:txBody>
      </p:sp>
      <p:sp>
        <p:nvSpPr>
          <p:cNvPr id="16" name="Text 14"/>
          <p:cNvSpPr/>
          <p:nvPr/>
        </p:nvSpPr>
        <p:spPr>
          <a:xfrm>
            <a:off x="640080" y="4434840"/>
            <a:ext cx="7863840" cy="320040"/>
          </a:xfrm>
          <a:prstGeom prst="rect">
            <a:avLst/>
          </a:prstGeom>
          <a:noFill/>
          <a:ln/>
        </p:spPr>
        <p:txBody>
          <a:bodyPr wrap="square" rtlCol="0" anchor="ctr"/>
          <a:lstStyle/>
          <a:p>
            <a:pPr algn="ctr" indent="0" marL="0">
              <a:buNone/>
            </a:pPr>
            <a:r>
              <a:rPr lang="en-US" sz="1200" dirty="0">
                <a:solidFill>
                  <a:srgbClr val="8FA6CF"/>
                </a:solidFill>
                <a:latin typeface="Calibri" pitchFamily="34" charset="0"/>
                <a:ea typeface="Calibri" pitchFamily="34" charset="-122"/>
                <a:cs typeface="Calibri" pitchFamily="34" charset="-120"/>
              </a:rPr>
              <a:t>45th IEEE IPCCC · Austin, Texas · November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138160" cy="274320"/>
          </a:xfrm>
          <a:prstGeom prst="rect">
            <a:avLst/>
          </a:prstGeom>
          <a:noFill/>
          <a:ln/>
        </p:spPr>
        <p:txBody>
          <a:bodyPr wrap="square" lIns="0" tIns="0" rIns="0" bIns="0" rtlCol="0" anchor="ctr"/>
          <a:lstStyle/>
          <a:p>
            <a:pPr indent="0" marL="0">
              <a:buNone/>
            </a:pPr>
            <a:r>
              <a:rPr lang="en-US" sz="1100" b="1" spc="300" kern="0" dirty="0">
                <a:solidFill>
                  <a:srgbClr val="5B6675"/>
                </a:solidFill>
                <a:latin typeface="Calibri" pitchFamily="34" charset="0"/>
                <a:ea typeface="Calibri" pitchFamily="34" charset="-122"/>
                <a:cs typeface="Calibri" pitchFamily="34" charset="-120"/>
              </a:rPr>
              <a:t>BACKGROUND</a:t>
            </a:r>
            <a:endParaRPr lang="en-US" sz="1100" dirty="0"/>
          </a:p>
        </p:txBody>
      </p:sp>
      <p:sp>
        <p:nvSpPr>
          <p:cNvPr id="3" name="Text 1"/>
          <p:cNvSpPr/>
          <p:nvPr/>
        </p:nvSpPr>
        <p:spPr>
          <a:xfrm>
            <a:off x="502920" y="502920"/>
            <a:ext cx="8138160" cy="566928"/>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HPCC in 60 seconds: precision congestion control</a:t>
            </a:r>
            <a:endParaRPr lang="en-US" sz="2700" dirty="0"/>
          </a:p>
        </p:txBody>
      </p:sp>
      <p:sp>
        <p:nvSpPr>
          <p:cNvPr id="4" name="Shape 2"/>
          <p:cNvSpPr/>
          <p:nvPr/>
        </p:nvSpPr>
        <p:spPr>
          <a:xfrm>
            <a:off x="548640" y="1426464"/>
            <a:ext cx="310896" cy="310896"/>
          </a:xfrm>
          <a:prstGeom prst="ellipse">
            <a:avLst/>
          </a:prstGeom>
          <a:solidFill>
            <a:srgbClr val="1E2761"/>
          </a:solidFill>
          <a:ln/>
        </p:spPr>
      </p:sp>
      <p:sp>
        <p:nvSpPr>
          <p:cNvPr id="5" name="Text 3"/>
          <p:cNvSpPr/>
          <p:nvPr/>
        </p:nvSpPr>
        <p:spPr>
          <a:xfrm>
            <a:off x="548640" y="1412748"/>
            <a:ext cx="310896"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024128" y="1325880"/>
            <a:ext cx="4480560" cy="822960"/>
          </a:xfrm>
          <a:prstGeom prst="rect">
            <a:avLst/>
          </a:prstGeom>
          <a:noFill/>
          <a:ln/>
        </p:spPr>
        <p:txBody>
          <a:bodyPr wrap="square" lIns="0" tIns="0" rIns="0" bIns="0" rtlCol="0" anchor="ctr"/>
          <a:lstStyle/>
          <a:p>
            <a:pPr indent="0" marL="0">
              <a:buNone/>
            </a:pPr>
            <a:r>
              <a:rPr lang="en-US" sz="1550" b="1" dirty="0">
                <a:solidFill>
                  <a:srgbClr val="1F2733"/>
                </a:solidFill>
                <a:latin typeface="Calibri" pitchFamily="34" charset="0"/>
                <a:ea typeface="Calibri" pitchFamily="34" charset="-122"/>
                <a:cs typeface="Calibri" pitchFamily="34" charset="-120"/>
              </a:rPr>
              <a:t>Switch stamps raw per-hop state into INT</a:t>
            </a:r>
            <a:endParaRPr lang="en-US" sz="1550" dirty="0"/>
          </a:p>
          <a:p>
            <a:pPr indent="0" marL="0">
              <a:buNone/>
            </a:pPr>
            <a:r>
              <a:rPr lang="en-US" sz="1250" dirty="0">
                <a:solidFill>
                  <a:srgbClr val="5B6675"/>
                </a:solidFill>
                <a:latin typeface="Calibri" pitchFamily="34" charset="0"/>
                <a:ea typeface="Calibri" pitchFamily="34" charset="-122"/>
                <a:cs typeface="Calibri" pitchFamily="34" charset="-120"/>
              </a:rPr>
              <a:t>tx bytes, queue length, link rate — stateless per flow</a:t>
            </a:r>
            <a:endParaRPr lang="en-US" sz="1550" dirty="0"/>
          </a:p>
        </p:txBody>
      </p:sp>
      <p:sp>
        <p:nvSpPr>
          <p:cNvPr id="7" name="Shape 5"/>
          <p:cNvSpPr/>
          <p:nvPr/>
        </p:nvSpPr>
        <p:spPr>
          <a:xfrm>
            <a:off x="548640" y="2267712"/>
            <a:ext cx="310896" cy="310896"/>
          </a:xfrm>
          <a:prstGeom prst="ellipse">
            <a:avLst/>
          </a:prstGeom>
          <a:solidFill>
            <a:srgbClr val="1E2761"/>
          </a:solidFill>
          <a:ln/>
        </p:spPr>
      </p:sp>
      <p:sp>
        <p:nvSpPr>
          <p:cNvPr id="8" name="Text 6"/>
          <p:cNvSpPr/>
          <p:nvPr/>
        </p:nvSpPr>
        <p:spPr>
          <a:xfrm>
            <a:off x="548640" y="2253996"/>
            <a:ext cx="310896"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1024128" y="2167128"/>
            <a:ext cx="4480560" cy="822960"/>
          </a:xfrm>
          <a:prstGeom prst="rect">
            <a:avLst/>
          </a:prstGeom>
          <a:noFill/>
          <a:ln/>
        </p:spPr>
        <p:txBody>
          <a:bodyPr wrap="square" lIns="0" tIns="0" rIns="0" bIns="0" rtlCol="0" anchor="ctr"/>
          <a:lstStyle/>
          <a:p>
            <a:pPr indent="0" marL="0">
              <a:buNone/>
            </a:pPr>
            <a:r>
              <a:rPr lang="en-US" sz="1550" b="1" dirty="0">
                <a:solidFill>
                  <a:srgbClr val="1F2733"/>
                </a:solidFill>
                <a:latin typeface="Calibri" pitchFamily="34" charset="0"/>
                <a:ea typeface="Calibri" pitchFamily="34" charset="-122"/>
                <a:cs typeface="Calibri" pitchFamily="34" charset="-120"/>
              </a:rPr>
              <a:t>Sender computes exact utilization U</a:t>
            </a:r>
            <a:endParaRPr lang="en-US" sz="1550" dirty="0"/>
          </a:p>
          <a:p>
            <a:pPr indent="0" marL="0">
              <a:buNone/>
            </a:pPr>
            <a:r>
              <a:rPr lang="en-US" sz="1250" dirty="0">
                <a:solidFill>
                  <a:srgbClr val="5B6675"/>
                </a:solidFill>
                <a:latin typeface="Calibri" pitchFamily="34" charset="0"/>
                <a:ea typeface="Calibri" pitchFamily="34" charset="-122"/>
                <a:cs typeface="Calibri" pitchFamily="34" charset="-120"/>
              </a:rPr>
              <a:t>multiplicative update toward target η = 95%</a:t>
            </a:r>
            <a:endParaRPr lang="en-US" sz="1550" dirty="0"/>
          </a:p>
        </p:txBody>
      </p:sp>
      <p:sp>
        <p:nvSpPr>
          <p:cNvPr id="10" name="Shape 8"/>
          <p:cNvSpPr/>
          <p:nvPr/>
        </p:nvSpPr>
        <p:spPr>
          <a:xfrm>
            <a:off x="548640" y="3108960"/>
            <a:ext cx="310896" cy="310896"/>
          </a:xfrm>
          <a:prstGeom prst="ellipse">
            <a:avLst/>
          </a:prstGeom>
          <a:solidFill>
            <a:srgbClr val="1E2761"/>
          </a:solidFill>
          <a:ln/>
        </p:spPr>
      </p:sp>
      <p:sp>
        <p:nvSpPr>
          <p:cNvPr id="11" name="Text 9"/>
          <p:cNvSpPr/>
          <p:nvPr/>
        </p:nvSpPr>
        <p:spPr>
          <a:xfrm>
            <a:off x="548640" y="3095244"/>
            <a:ext cx="310896"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1024128" y="3008376"/>
            <a:ext cx="4480560" cy="822960"/>
          </a:xfrm>
          <a:prstGeom prst="rect">
            <a:avLst/>
          </a:prstGeom>
          <a:noFill/>
          <a:ln/>
        </p:spPr>
        <p:txBody>
          <a:bodyPr wrap="square" lIns="0" tIns="0" rIns="0" bIns="0" rtlCol="0" anchor="ctr"/>
          <a:lstStyle/>
          <a:p>
            <a:pPr indent="0" marL="0">
              <a:buNone/>
            </a:pPr>
            <a:r>
              <a:rPr lang="en-US" sz="1550" b="1" dirty="0">
                <a:solidFill>
                  <a:srgbClr val="1F2733"/>
                </a:solidFill>
                <a:latin typeface="Calibri" pitchFamily="34" charset="0"/>
                <a:ea typeface="Calibri" pitchFamily="34" charset="-122"/>
                <a:cs typeface="Calibri" pitchFamily="34" charset="-120"/>
              </a:rPr>
              <a:t>Near-zero queues, top-tier FCT</a:t>
            </a:r>
            <a:endParaRPr lang="en-US" sz="1550" dirty="0"/>
          </a:p>
          <a:p>
            <a:pPr indent="0" marL="0">
              <a:buNone/>
            </a:pPr>
            <a:r>
              <a:rPr lang="en-US" sz="1250" dirty="0">
                <a:solidFill>
                  <a:srgbClr val="5B6675"/>
                </a:solidFill>
                <a:latin typeface="Calibri" pitchFamily="34" charset="0"/>
                <a:ea typeface="Calibri" pitchFamily="34" charset="-122"/>
                <a:cs typeface="Calibri" pitchFamily="34" charset="-120"/>
              </a:rPr>
              <a:t>beats DCQCN / TIMELY / DCTCP on single-bottleneck benchmarks</a:t>
            </a:r>
            <a:endParaRPr lang="en-US" sz="1550" dirty="0"/>
          </a:p>
        </p:txBody>
      </p:sp>
      <p:sp>
        <p:nvSpPr>
          <p:cNvPr id="13" name="Shape 11"/>
          <p:cNvSpPr/>
          <p:nvPr/>
        </p:nvSpPr>
        <p:spPr>
          <a:xfrm>
            <a:off x="5806440" y="1325880"/>
            <a:ext cx="2880360" cy="2514600"/>
          </a:xfrm>
          <a:prstGeom prst="roundRect">
            <a:avLst>
              <a:gd name="adj" fmla="val 3273"/>
            </a:avLst>
          </a:prstGeom>
          <a:solidFill>
            <a:srgbClr val="EEF3FB"/>
          </a:solidFill>
          <a:ln/>
          <a:effectLst>
            <a:outerShdw sx="100000" sy="100000" kx="0" ky="0" algn="bl" rotWithShape="0" blurRad="88900" dist="25400" dir="2700000">
              <a:srgbClr val="000000">
                <a:alpha val="14000"/>
              </a:srgbClr>
            </a:outerShdw>
          </a:effectLst>
        </p:spPr>
      </p:sp>
      <p:sp>
        <p:nvSpPr>
          <p:cNvPr id="14" name="Text 12"/>
          <p:cNvSpPr/>
          <p:nvPr/>
        </p:nvSpPr>
        <p:spPr>
          <a:xfrm>
            <a:off x="6035040" y="1481328"/>
            <a:ext cx="2468880" cy="274320"/>
          </a:xfrm>
          <a:prstGeom prst="rect">
            <a:avLst/>
          </a:prstGeom>
          <a:noFill/>
          <a:ln/>
        </p:spPr>
        <p:txBody>
          <a:bodyPr wrap="square" lIns="0" tIns="0" rIns="0" bIns="0" rtlCol="0" anchor="ctr"/>
          <a:lstStyle/>
          <a:p>
            <a:pPr indent="0" marL="0">
              <a:buNone/>
            </a:pPr>
            <a:r>
              <a:rPr lang="en-US" sz="1100" b="1" spc="200" kern="0" dirty="0">
                <a:solidFill>
                  <a:srgbClr val="5B6675"/>
                </a:solidFill>
                <a:latin typeface="Calibri" pitchFamily="34" charset="0"/>
                <a:ea typeface="Calibri" pitchFamily="34" charset="-122"/>
                <a:cs typeface="Calibri" pitchFamily="34" charset="-120"/>
              </a:rPr>
              <a:t>the INT header</a:t>
            </a:r>
            <a:endParaRPr lang="en-US" sz="1100" dirty="0"/>
          </a:p>
        </p:txBody>
      </p:sp>
      <p:sp>
        <p:nvSpPr>
          <p:cNvPr id="15" name="Shape 13"/>
          <p:cNvSpPr/>
          <p:nvPr/>
        </p:nvSpPr>
        <p:spPr>
          <a:xfrm>
            <a:off x="6035040" y="1810512"/>
            <a:ext cx="2423160" cy="384048"/>
          </a:xfrm>
          <a:prstGeom prst="roundRect">
            <a:avLst>
              <a:gd name="adj" fmla="val 11905"/>
            </a:avLst>
          </a:prstGeom>
          <a:solidFill>
            <a:srgbClr val="FFFFFF"/>
          </a:solidFill>
          <a:ln w="12700">
            <a:solidFill>
              <a:srgbClr val="B9C6DE"/>
            </a:solidFill>
            <a:prstDash val="solid"/>
          </a:ln>
        </p:spPr>
      </p:sp>
      <p:sp>
        <p:nvSpPr>
          <p:cNvPr id="16" name="Text 14"/>
          <p:cNvSpPr/>
          <p:nvPr/>
        </p:nvSpPr>
        <p:spPr>
          <a:xfrm>
            <a:off x="6144768" y="1819656"/>
            <a:ext cx="2240280" cy="365760"/>
          </a:xfrm>
          <a:prstGeom prst="rect">
            <a:avLst/>
          </a:prstGeom>
          <a:noFill/>
          <a:ln/>
        </p:spPr>
        <p:txBody>
          <a:bodyPr wrap="square" lIns="0" tIns="0" rIns="0" bIns="0" rtlCol="0" anchor="ctr"/>
          <a:lstStyle/>
          <a:p>
            <a:pPr indent="0" marL="0">
              <a:buNone/>
            </a:pPr>
            <a:r>
              <a:rPr lang="en-US" sz="1150" dirty="0">
                <a:solidFill>
                  <a:srgbClr val="1F2733"/>
                </a:solidFill>
                <a:latin typeface="Courier New" pitchFamily="34" charset="0"/>
                <a:ea typeface="Courier New" pitchFamily="34" charset="-122"/>
                <a:cs typeface="Courier New" pitchFamily="34" charset="-120"/>
              </a:rPr>
              <a:t>hop 1: tx, qlen, rate</a:t>
            </a:r>
            <a:endParaRPr lang="en-US" sz="1150" dirty="0"/>
          </a:p>
        </p:txBody>
      </p:sp>
      <p:sp>
        <p:nvSpPr>
          <p:cNvPr id="17" name="Shape 15"/>
          <p:cNvSpPr/>
          <p:nvPr/>
        </p:nvSpPr>
        <p:spPr>
          <a:xfrm>
            <a:off x="6035040" y="2286000"/>
            <a:ext cx="2423160" cy="384048"/>
          </a:xfrm>
          <a:prstGeom prst="roundRect">
            <a:avLst>
              <a:gd name="adj" fmla="val 11905"/>
            </a:avLst>
          </a:prstGeom>
          <a:solidFill>
            <a:srgbClr val="FFFFFF"/>
          </a:solidFill>
          <a:ln w="12700">
            <a:solidFill>
              <a:srgbClr val="B9C6DE"/>
            </a:solidFill>
            <a:prstDash val="solid"/>
          </a:ln>
        </p:spPr>
      </p:sp>
      <p:sp>
        <p:nvSpPr>
          <p:cNvPr id="18" name="Text 16"/>
          <p:cNvSpPr/>
          <p:nvPr/>
        </p:nvSpPr>
        <p:spPr>
          <a:xfrm>
            <a:off x="6144768" y="2295144"/>
            <a:ext cx="2240280" cy="365760"/>
          </a:xfrm>
          <a:prstGeom prst="rect">
            <a:avLst/>
          </a:prstGeom>
          <a:noFill/>
          <a:ln/>
        </p:spPr>
        <p:txBody>
          <a:bodyPr wrap="square" lIns="0" tIns="0" rIns="0" bIns="0" rtlCol="0" anchor="ctr"/>
          <a:lstStyle/>
          <a:p>
            <a:pPr indent="0" marL="0">
              <a:buNone/>
            </a:pPr>
            <a:r>
              <a:rPr lang="en-US" sz="1150" dirty="0">
                <a:solidFill>
                  <a:srgbClr val="1F2733"/>
                </a:solidFill>
                <a:latin typeface="Courier New" pitchFamily="34" charset="0"/>
                <a:ea typeface="Courier New" pitchFamily="34" charset="-122"/>
                <a:cs typeface="Courier New" pitchFamily="34" charset="-120"/>
              </a:rPr>
              <a:t>hop 2: tx, qlen, rate</a:t>
            </a:r>
            <a:endParaRPr lang="en-US" sz="1150" dirty="0"/>
          </a:p>
        </p:txBody>
      </p:sp>
      <p:sp>
        <p:nvSpPr>
          <p:cNvPr id="19" name="Shape 17"/>
          <p:cNvSpPr/>
          <p:nvPr/>
        </p:nvSpPr>
        <p:spPr>
          <a:xfrm>
            <a:off x="6035040" y="2761488"/>
            <a:ext cx="2423160" cy="384048"/>
          </a:xfrm>
          <a:prstGeom prst="roundRect">
            <a:avLst>
              <a:gd name="adj" fmla="val 11905"/>
            </a:avLst>
          </a:prstGeom>
          <a:solidFill>
            <a:srgbClr val="FFFFFF"/>
          </a:solidFill>
          <a:ln w="12700">
            <a:solidFill>
              <a:srgbClr val="B9C6DE"/>
            </a:solidFill>
            <a:prstDash val="solid"/>
          </a:ln>
        </p:spPr>
      </p:sp>
      <p:sp>
        <p:nvSpPr>
          <p:cNvPr id="20" name="Text 18"/>
          <p:cNvSpPr/>
          <p:nvPr/>
        </p:nvSpPr>
        <p:spPr>
          <a:xfrm>
            <a:off x="6144768" y="2770632"/>
            <a:ext cx="2240280" cy="365760"/>
          </a:xfrm>
          <a:prstGeom prst="rect">
            <a:avLst/>
          </a:prstGeom>
          <a:noFill/>
          <a:ln/>
        </p:spPr>
        <p:txBody>
          <a:bodyPr wrap="square" lIns="0" tIns="0" rIns="0" bIns="0" rtlCol="0" anchor="ctr"/>
          <a:lstStyle/>
          <a:p>
            <a:pPr indent="0" marL="0">
              <a:buNone/>
            </a:pPr>
            <a:r>
              <a:rPr lang="en-US" sz="1150" dirty="0">
                <a:solidFill>
                  <a:srgbClr val="1F2733"/>
                </a:solidFill>
                <a:latin typeface="Courier New" pitchFamily="34" charset="0"/>
                <a:ea typeface="Courier New" pitchFamily="34" charset="-122"/>
                <a:cs typeface="Courier New" pitchFamily="34" charset="-120"/>
              </a:rPr>
              <a:t>hop 3: tx, qlen, rate</a:t>
            </a:r>
            <a:endParaRPr lang="en-US" sz="1150" dirty="0"/>
          </a:p>
        </p:txBody>
      </p:sp>
      <p:sp>
        <p:nvSpPr>
          <p:cNvPr id="21" name="Shape 19"/>
          <p:cNvSpPr/>
          <p:nvPr/>
        </p:nvSpPr>
        <p:spPr>
          <a:xfrm>
            <a:off x="6035040" y="3236976"/>
            <a:ext cx="2423160" cy="384048"/>
          </a:xfrm>
          <a:prstGeom prst="roundRect">
            <a:avLst>
              <a:gd name="adj" fmla="val 11905"/>
            </a:avLst>
          </a:prstGeom>
          <a:solidFill>
            <a:srgbClr val="FFFFFF"/>
          </a:solidFill>
          <a:ln w="12700">
            <a:solidFill>
              <a:srgbClr val="B9C6DE"/>
            </a:solidFill>
            <a:prstDash val="solid"/>
          </a:ln>
        </p:spPr>
      </p:sp>
      <p:sp>
        <p:nvSpPr>
          <p:cNvPr id="22" name="Text 20"/>
          <p:cNvSpPr/>
          <p:nvPr/>
        </p:nvSpPr>
        <p:spPr>
          <a:xfrm>
            <a:off x="6144768" y="3246120"/>
            <a:ext cx="2240280" cy="365760"/>
          </a:xfrm>
          <a:prstGeom prst="rect">
            <a:avLst/>
          </a:prstGeom>
          <a:noFill/>
          <a:ln/>
        </p:spPr>
        <p:txBody>
          <a:bodyPr wrap="square" lIns="0" tIns="0" rIns="0" bIns="0" rtlCol="0" anchor="ctr"/>
          <a:lstStyle/>
          <a:p>
            <a:pPr indent="0" marL="0">
              <a:buNone/>
            </a:pPr>
            <a:r>
              <a:rPr lang="en-US" sz="1150" i="1" dirty="0">
                <a:solidFill>
                  <a:srgbClr val="5B6675"/>
                </a:solidFill>
                <a:latin typeface="Courier New" pitchFamily="34" charset="0"/>
                <a:ea typeface="Courier New" pitchFamily="34" charset="-122"/>
                <a:cs typeface="Courier New" pitchFamily="34" charset="-120"/>
              </a:rPr>
              <a:t>… up to maxHop = 5</a:t>
            </a:r>
            <a:endParaRPr lang="en-US" sz="1150" dirty="0"/>
          </a:p>
        </p:txBody>
      </p:sp>
      <p:sp>
        <p:nvSpPr>
          <p:cNvPr id="23" name="Text 21"/>
          <p:cNvSpPr/>
          <p:nvPr/>
        </p:nvSpPr>
        <p:spPr>
          <a:xfrm>
            <a:off x="5806440" y="3977640"/>
            <a:ext cx="2880360" cy="502920"/>
          </a:xfrm>
          <a:prstGeom prst="rect">
            <a:avLst/>
          </a:prstGeom>
          <a:noFill/>
          <a:ln/>
        </p:spPr>
        <p:txBody>
          <a:bodyPr wrap="square" rtlCol="0" anchor="ctr"/>
          <a:lstStyle/>
          <a:p>
            <a:pPr algn="ctr" indent="0" marL="0">
              <a:buNone/>
            </a:pPr>
            <a:r>
              <a:rPr lang="en-US" sz="1150" i="1" dirty="0">
                <a:solidFill>
                  <a:srgbClr val="5B6675"/>
                </a:solidFill>
                <a:latin typeface="Calibri" pitchFamily="34" charset="0"/>
                <a:ea typeface="Calibri" pitchFamily="34" charset="-122"/>
                <a:cs typeface="Calibri" pitchFamily="34" charset="-120"/>
              </a:rPr>
              <a:t>8 bytes per hop — the record grows with path length</a:t>
            </a:r>
            <a:endParaRPr lang="en-US" sz="1150" dirty="0"/>
          </a:p>
        </p:txBody>
      </p:sp>
      <p:sp>
        <p:nvSpPr>
          <p:cNvPr id="24" name="Text 22"/>
          <p:cNvSpPr/>
          <p:nvPr/>
        </p:nvSpPr>
        <p:spPr>
          <a:xfrm>
            <a:off x="548640" y="4160520"/>
            <a:ext cx="4937760" cy="548640"/>
          </a:xfrm>
          <a:prstGeom prst="rect">
            <a:avLst/>
          </a:prstGeom>
          <a:noFill/>
          <a:ln/>
        </p:spPr>
        <p:txBody>
          <a:bodyPr wrap="square" lIns="0" tIns="0" rIns="0" bIns="0" rtlCol="0" anchor="ctr"/>
          <a:lstStyle/>
          <a:p>
            <a:pPr indent="0" marL="0">
              <a:buNone/>
            </a:pPr>
            <a:r>
              <a:rPr lang="en-US" sz="1500" b="1" dirty="0">
                <a:solidFill>
                  <a:srgbClr val="C0504D"/>
                </a:solidFill>
                <a:latin typeface="Calibri" pitchFamily="34" charset="0"/>
                <a:ea typeface="Calibri" pitchFamily="34" charset="-122"/>
                <a:cs typeface="Calibri" pitchFamily="34" charset="-120"/>
              </a:rPr>
              <a:t>The catch: the sender sees load, not its fair share.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138160" cy="274320"/>
          </a:xfrm>
          <a:prstGeom prst="rect">
            <a:avLst/>
          </a:prstGeom>
          <a:noFill/>
          <a:ln/>
        </p:spPr>
        <p:txBody>
          <a:bodyPr wrap="square" lIns="0" tIns="0" rIns="0" bIns="0" rtlCol="0" anchor="ctr"/>
          <a:lstStyle/>
          <a:p>
            <a:pPr indent="0" marL="0">
              <a:buNone/>
            </a:pPr>
            <a:r>
              <a:rPr lang="en-US" sz="1100" b="1" spc="300" kern="0" dirty="0">
                <a:solidFill>
                  <a:srgbClr val="5B6675"/>
                </a:solidFill>
                <a:latin typeface="Calibri" pitchFamily="34" charset="0"/>
                <a:ea typeface="Calibri" pitchFamily="34" charset="-122"/>
                <a:cs typeface="Calibri" pitchFamily="34" charset="-120"/>
              </a:rPr>
              <a:t>MOTIVATION</a:t>
            </a:r>
            <a:endParaRPr lang="en-US" sz="1100" dirty="0"/>
          </a:p>
        </p:txBody>
      </p:sp>
      <p:sp>
        <p:nvSpPr>
          <p:cNvPr id="3" name="Text 1"/>
          <p:cNvSpPr/>
          <p:nvPr/>
        </p:nvSpPr>
        <p:spPr>
          <a:xfrm>
            <a:off x="502920" y="502920"/>
            <a:ext cx="8138160" cy="566928"/>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Modern traffic crosses many contended links in series</a:t>
            </a:r>
            <a:endParaRPr lang="en-US" sz="2700" dirty="0"/>
          </a:p>
        </p:txBody>
      </p:sp>
      <p:sp>
        <p:nvSpPr>
          <p:cNvPr id="4" name="Shape 2"/>
          <p:cNvSpPr/>
          <p:nvPr/>
        </p:nvSpPr>
        <p:spPr>
          <a:xfrm>
            <a:off x="548640" y="1371600"/>
            <a:ext cx="2560320" cy="1234440"/>
          </a:xfrm>
          <a:prstGeom prst="roundRect">
            <a:avLst>
              <a:gd name="adj" fmla="val 6667"/>
            </a:avLst>
          </a:prstGeom>
          <a:solidFill>
            <a:srgbClr val="EEF3FB"/>
          </a:solidFill>
          <a:ln/>
          <a:effectLst>
            <a:outerShdw sx="100000" sy="100000" kx="0" ky="0" algn="bl" rotWithShape="0" blurRad="88900" dist="25400" dir="2700000">
              <a:srgbClr val="000000">
                <a:alpha val="14000"/>
              </a:srgbClr>
            </a:outerShdw>
          </a:effectLst>
        </p:spPr>
      </p:sp>
      <p:sp>
        <p:nvSpPr>
          <p:cNvPr id="5" name="Text 3"/>
          <p:cNvSpPr/>
          <p:nvPr/>
        </p:nvSpPr>
        <p:spPr>
          <a:xfrm>
            <a:off x="749808" y="1536192"/>
            <a:ext cx="2194560" cy="960120"/>
          </a:xfrm>
          <a:prstGeom prst="rect">
            <a:avLst/>
          </a:prstGeom>
          <a:noFill/>
          <a:ln/>
        </p:spPr>
        <p:txBody>
          <a:bodyPr wrap="square" lIns="0" tIns="0" rIns="0" bIns="0" rtlCol="0" anchor="t"/>
          <a:lstStyle/>
          <a:p>
            <a:pPr indent="0" marL="0">
              <a:buNone/>
            </a:pPr>
            <a:r>
              <a:rPr lang="en-US" sz="1500" b="1" dirty="0">
                <a:solidFill>
                  <a:srgbClr val="1E2761"/>
                </a:solidFill>
                <a:latin typeface="Calibri" pitchFamily="34" charset="0"/>
                <a:ea typeface="Calibri" pitchFamily="34" charset="-122"/>
                <a:cs typeface="Calibri" pitchFamily="34" charset="-120"/>
              </a:rPr>
              <a:t>Cross-pod ML</a:t>
            </a:r>
            <a:endParaRPr lang="en-US" sz="1500" dirty="0"/>
          </a:p>
          <a:p>
            <a:pPr indent="0" marL="0">
              <a:buNone/>
            </a:pPr>
            <a:r>
              <a:rPr lang="en-US" sz="1150" dirty="0">
                <a:solidFill>
                  <a:srgbClr val="5B6675"/>
                </a:solidFill>
                <a:latin typeface="Calibri" pitchFamily="34" charset="0"/>
                <a:ea typeface="Calibri" pitchFamily="34" charset="-122"/>
                <a:cs typeface="Calibri" pitchFamily="34" charset="-120"/>
              </a:rPr>
              <a:t>allreduce spans aggregation + core layers</a:t>
            </a:r>
            <a:endParaRPr lang="en-US" sz="1500" dirty="0"/>
          </a:p>
        </p:txBody>
      </p:sp>
      <p:sp>
        <p:nvSpPr>
          <p:cNvPr id="6" name="Shape 4"/>
          <p:cNvSpPr/>
          <p:nvPr/>
        </p:nvSpPr>
        <p:spPr>
          <a:xfrm>
            <a:off x="3337560" y="1371600"/>
            <a:ext cx="2560320" cy="1234440"/>
          </a:xfrm>
          <a:prstGeom prst="roundRect">
            <a:avLst>
              <a:gd name="adj" fmla="val 6667"/>
            </a:avLst>
          </a:prstGeom>
          <a:solidFill>
            <a:srgbClr val="EEF3FB"/>
          </a:solidFill>
          <a:ln/>
          <a:effectLst>
            <a:outerShdw sx="100000" sy="100000" kx="0" ky="0" algn="bl" rotWithShape="0" blurRad="88900" dist="25400" dir="2700000">
              <a:srgbClr val="000000">
                <a:alpha val="14000"/>
              </a:srgbClr>
            </a:outerShdw>
          </a:effectLst>
        </p:spPr>
      </p:sp>
      <p:sp>
        <p:nvSpPr>
          <p:cNvPr id="7" name="Text 5"/>
          <p:cNvSpPr/>
          <p:nvPr/>
        </p:nvSpPr>
        <p:spPr>
          <a:xfrm>
            <a:off x="3538728" y="1536192"/>
            <a:ext cx="2194560" cy="960120"/>
          </a:xfrm>
          <a:prstGeom prst="rect">
            <a:avLst/>
          </a:prstGeom>
          <a:noFill/>
          <a:ln/>
        </p:spPr>
        <p:txBody>
          <a:bodyPr wrap="square" lIns="0" tIns="0" rIns="0" bIns="0" rtlCol="0" anchor="t"/>
          <a:lstStyle/>
          <a:p>
            <a:pPr indent="0" marL="0">
              <a:buNone/>
            </a:pPr>
            <a:r>
              <a:rPr lang="en-US" sz="1500" b="1" dirty="0">
                <a:solidFill>
                  <a:srgbClr val="1E2761"/>
                </a:solidFill>
                <a:latin typeface="Calibri" pitchFamily="34" charset="0"/>
                <a:ea typeface="Calibri" pitchFamily="34" charset="-122"/>
                <a:cs typeface="Calibri" pitchFamily="34" charset="-120"/>
              </a:rPr>
              <a:t>Disaggregation</a:t>
            </a:r>
            <a:endParaRPr lang="en-US" sz="1500" dirty="0"/>
          </a:p>
          <a:p>
            <a:pPr indent="0" marL="0">
              <a:buNone/>
            </a:pPr>
            <a:r>
              <a:rPr lang="en-US" sz="1150" dirty="0">
                <a:solidFill>
                  <a:srgbClr val="5B6675"/>
                </a:solidFill>
                <a:latin typeface="Calibri" pitchFamily="34" charset="0"/>
                <a:ea typeface="Calibri" pitchFamily="34" charset="-122"/>
                <a:cs typeface="Calibri" pitchFamily="34" charset="-120"/>
              </a:rPr>
              <a:t>memory / storage traffic transits multiple fabrics</a:t>
            </a:r>
            <a:endParaRPr lang="en-US" sz="1500" dirty="0"/>
          </a:p>
        </p:txBody>
      </p:sp>
      <p:sp>
        <p:nvSpPr>
          <p:cNvPr id="8" name="Shape 6"/>
          <p:cNvSpPr/>
          <p:nvPr/>
        </p:nvSpPr>
        <p:spPr>
          <a:xfrm>
            <a:off x="6126480" y="1371600"/>
            <a:ext cx="2560320" cy="1234440"/>
          </a:xfrm>
          <a:prstGeom prst="roundRect">
            <a:avLst>
              <a:gd name="adj" fmla="val 6667"/>
            </a:avLst>
          </a:prstGeom>
          <a:solidFill>
            <a:srgbClr val="EEF3FB"/>
          </a:solidFill>
          <a:ln/>
          <a:effectLst>
            <a:outerShdw sx="100000" sy="100000" kx="0" ky="0" algn="bl" rotWithShape="0" blurRad="88900" dist="25400" dir="2700000">
              <a:srgbClr val="000000">
                <a:alpha val="14000"/>
              </a:srgbClr>
            </a:outerShdw>
          </a:effectLst>
        </p:spPr>
      </p:sp>
      <p:sp>
        <p:nvSpPr>
          <p:cNvPr id="9" name="Text 7"/>
          <p:cNvSpPr/>
          <p:nvPr/>
        </p:nvSpPr>
        <p:spPr>
          <a:xfrm>
            <a:off x="6327648" y="1536192"/>
            <a:ext cx="2194560" cy="960120"/>
          </a:xfrm>
          <a:prstGeom prst="rect">
            <a:avLst/>
          </a:prstGeom>
          <a:noFill/>
          <a:ln/>
        </p:spPr>
        <p:txBody>
          <a:bodyPr wrap="square" lIns="0" tIns="0" rIns="0" bIns="0" rtlCol="0" anchor="t"/>
          <a:lstStyle/>
          <a:p>
            <a:pPr indent="0" marL="0">
              <a:buNone/>
            </a:pPr>
            <a:r>
              <a:rPr lang="en-US" sz="1500" b="1" dirty="0">
                <a:solidFill>
                  <a:srgbClr val="1E2761"/>
                </a:solidFill>
                <a:latin typeface="Calibri" pitchFamily="34" charset="0"/>
                <a:ea typeface="Calibri" pitchFamily="34" charset="-122"/>
                <a:cs typeface="Calibri" pitchFamily="34" charset="-120"/>
              </a:rPr>
              <a:t>Multi-tenancy</a:t>
            </a:r>
            <a:endParaRPr lang="en-US" sz="1500" dirty="0"/>
          </a:p>
          <a:p>
            <a:pPr indent="0" marL="0">
              <a:buNone/>
            </a:pPr>
            <a:r>
              <a:rPr lang="en-US" sz="1150" dirty="0">
                <a:solidFill>
                  <a:srgbClr val="5B6675"/>
                </a:solidFill>
                <a:latin typeface="Calibri" pitchFamily="34" charset="0"/>
                <a:ea typeface="Calibri" pitchFamily="34" charset="-122"/>
                <a:cs typeface="Calibri" pitchFamily="34" charset="-120"/>
              </a:rPr>
              <a:t>shared links at every tier of the DC</a:t>
            </a:r>
            <a:endParaRPr lang="en-US" sz="1500" dirty="0"/>
          </a:p>
        </p:txBody>
      </p:sp>
      <p:sp>
        <p:nvSpPr>
          <p:cNvPr id="10" name="Shape 8"/>
          <p:cNvSpPr/>
          <p:nvPr/>
        </p:nvSpPr>
        <p:spPr>
          <a:xfrm>
            <a:off x="548640" y="2971800"/>
            <a:ext cx="8092440" cy="1554480"/>
          </a:xfrm>
          <a:prstGeom prst="roundRect">
            <a:avLst>
              <a:gd name="adj" fmla="val 5882"/>
            </a:avLst>
          </a:prstGeom>
          <a:solidFill>
            <a:srgbClr val="1E2761"/>
          </a:solidFill>
          <a:ln/>
          <a:effectLst>
            <a:outerShdw sx="100000" sy="100000" kx="0" ky="0" algn="bl" rotWithShape="0" blurRad="88900" dist="25400" dir="2700000">
              <a:srgbClr val="000000">
                <a:alpha val="14000"/>
              </a:srgbClr>
            </a:outerShdw>
          </a:effectLst>
        </p:spPr>
      </p:sp>
      <p:sp>
        <p:nvSpPr>
          <p:cNvPr id="11" name="Text 9"/>
          <p:cNvSpPr/>
          <p:nvPr/>
        </p:nvSpPr>
        <p:spPr>
          <a:xfrm>
            <a:off x="868680" y="3200400"/>
            <a:ext cx="7452360" cy="1097280"/>
          </a:xfrm>
          <a:prstGeom prst="rect">
            <a:avLst/>
          </a:prstGeom>
          <a:noFill/>
          <a:ln/>
        </p:spPr>
        <p:txBody>
          <a:bodyPr wrap="square"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Does HPCC still deliver fair service when a flow crosses</a:t>
            </a:r>
            <a:endParaRPr lang="en-US" sz="2100" dirty="0"/>
          </a:p>
          <a:p>
            <a:pPr algn="ctr" indent="0" marL="0">
              <a:buNone/>
            </a:pPr>
            <a:r>
              <a:rPr lang="en-US" sz="2100" b="1" dirty="0">
                <a:solidFill>
                  <a:srgbClr val="FFFFFF"/>
                </a:solidFill>
                <a:latin typeface="Cambria" pitchFamily="34" charset="0"/>
                <a:ea typeface="Cambria" pitchFamily="34" charset="-122"/>
                <a:cs typeface="Cambria" pitchFamily="34" charset="-120"/>
              </a:rPr>
              <a:t>multiple bottlenecks — not just one?</a:t>
            </a:r>
            <a:endParaRPr lang="en-US" sz="2100" dirty="0"/>
          </a:p>
        </p:txBody>
      </p:sp>
      <p:sp>
        <p:nvSpPr>
          <p:cNvPr id="12" name="Text 10"/>
          <p:cNvSpPr/>
          <p:nvPr/>
        </p:nvSpPr>
        <p:spPr>
          <a:xfrm>
            <a:off x="548640" y="4617720"/>
            <a:ext cx="8092440" cy="365760"/>
          </a:xfrm>
          <a:prstGeom prst="rect">
            <a:avLst/>
          </a:prstGeom>
          <a:noFill/>
          <a:ln/>
        </p:spPr>
        <p:txBody>
          <a:bodyPr wrap="square" rtlCol="0" anchor="ctr"/>
          <a:lstStyle/>
          <a:p>
            <a:pPr algn="ctr" indent="0" marL="0">
              <a:buNone/>
            </a:pPr>
            <a:r>
              <a:rPr lang="en-US" sz="1250" i="1" dirty="0">
                <a:solidFill>
                  <a:srgbClr val="5B6675"/>
                </a:solidFill>
                <a:latin typeface="Calibri" pitchFamily="34" charset="0"/>
                <a:ea typeface="Calibri" pitchFamily="34" charset="-122"/>
                <a:cs typeface="Calibri" pitchFamily="34" charset="-120"/>
              </a:rPr>
              <a:t>Nobody had measured it carefully. We did — deterministically, against a max-min oracle.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138160" cy="274320"/>
          </a:xfrm>
          <a:prstGeom prst="rect">
            <a:avLst/>
          </a:prstGeom>
          <a:noFill/>
          <a:ln/>
        </p:spPr>
        <p:txBody>
          <a:bodyPr wrap="square" lIns="0" tIns="0" rIns="0" bIns="0" rtlCol="0" anchor="ctr"/>
          <a:lstStyle/>
          <a:p>
            <a:pPr indent="0" marL="0">
              <a:buNone/>
            </a:pPr>
            <a:r>
              <a:rPr lang="en-US" sz="1100" b="1" spc="300" kern="0" dirty="0">
                <a:solidFill>
                  <a:srgbClr val="5B6675"/>
                </a:solidFill>
                <a:latin typeface="Calibri" pitchFamily="34" charset="0"/>
                <a:ea typeface="Calibri" pitchFamily="34" charset="-122"/>
                <a:cs typeface="Calibri" pitchFamily="34" charset="-120"/>
              </a:rPr>
              <a:t>METHODOLOGY</a:t>
            </a:r>
            <a:endParaRPr lang="en-US" sz="1100" dirty="0"/>
          </a:p>
        </p:txBody>
      </p:sp>
      <p:sp>
        <p:nvSpPr>
          <p:cNvPr id="3" name="Text 1"/>
          <p:cNvSpPr/>
          <p:nvPr/>
        </p:nvSpPr>
        <p:spPr>
          <a:xfrm>
            <a:off x="502920" y="502920"/>
            <a:ext cx="8138160" cy="566928"/>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The parking lot, scored against a max-min oracle</a:t>
            </a:r>
            <a:endParaRPr lang="en-US" sz="2700" dirty="0"/>
          </a:p>
        </p:txBody>
      </p:sp>
      <p:pic>
        <p:nvPicPr>
          <p:cNvPr id="4" name="Image 0" descr="../figures/fig_topo_parking.png">    </p:cNvPr>
          <p:cNvPicPr>
            <a:picLocks noChangeAspect="1"/>
          </p:cNvPicPr>
          <p:nvPr/>
        </p:nvPicPr>
        <p:blipFill>
          <a:blip r:embed="rId1"/>
          <a:stretch>
            <a:fillRect/>
          </a:stretch>
        </p:blipFill>
        <p:spPr>
          <a:xfrm>
            <a:off x="685800" y="1234440"/>
            <a:ext cx="5394960" cy="2926080"/>
          </a:xfrm>
          <a:prstGeom prst="rect">
            <a:avLst/>
          </a:prstGeom>
        </p:spPr>
      </p:pic>
      <p:sp>
        <p:nvSpPr>
          <p:cNvPr id="5" name="Shape 2"/>
          <p:cNvSpPr/>
          <p:nvPr/>
        </p:nvSpPr>
        <p:spPr>
          <a:xfrm>
            <a:off x="6355080" y="1234440"/>
            <a:ext cx="2377440" cy="2926080"/>
          </a:xfrm>
          <a:prstGeom prst="roundRect">
            <a:avLst>
              <a:gd name="adj" fmla="val 3462"/>
            </a:avLst>
          </a:prstGeom>
          <a:solidFill>
            <a:srgbClr val="EEF3FB"/>
          </a:solidFill>
          <a:ln/>
          <a:effectLst>
            <a:outerShdw sx="100000" sy="100000" kx="0" ky="0" algn="bl" rotWithShape="0" blurRad="88900" dist="25400" dir="2700000">
              <a:srgbClr val="000000">
                <a:alpha val="14000"/>
              </a:srgbClr>
            </a:outerShdw>
          </a:effectLst>
        </p:spPr>
      </p:sp>
      <p:sp>
        <p:nvSpPr>
          <p:cNvPr id="6" name="Text 3"/>
          <p:cNvSpPr/>
          <p:nvPr/>
        </p:nvSpPr>
        <p:spPr>
          <a:xfrm>
            <a:off x="6537960" y="1417320"/>
            <a:ext cx="2057400" cy="2651760"/>
          </a:xfrm>
          <a:prstGeom prst="rect">
            <a:avLst/>
          </a:prstGeom>
          <a:noFill/>
          <a:ln/>
        </p:spPr>
        <p:txBody>
          <a:bodyPr wrap="square" lIns="0" tIns="0" rIns="0" bIns="0" rtlCol="0" anchor="ctr"/>
          <a:lstStyle/>
          <a:p>
            <a:pPr indent="0" marL="0">
              <a:buNone/>
            </a:pPr>
            <a:r>
              <a:rPr lang="en-US" sz="1200" b="1" spc="200" kern="0" dirty="0">
                <a:solidFill>
                  <a:srgbClr val="5B6675"/>
                </a:solidFill>
                <a:latin typeface="Calibri" pitchFamily="34" charset="0"/>
                <a:ea typeface="Calibri" pitchFamily="34" charset="-122"/>
                <a:cs typeface="Calibri" pitchFamily="34" charset="-120"/>
              </a:rPr>
              <a:t>Setup</a:t>
            </a:r>
            <a:endParaRPr lang="en-US" sz="1200" dirty="0"/>
          </a:p>
          <a:p>
            <a:pPr indent="0" marL="0">
              <a:spcAft>
                <a:spcPts val="800"/>
              </a:spcAft>
              <a:buNone/>
            </a:pPr>
            <a:r>
              <a:rPr lang="en-US" sz="1200" dirty="0">
                <a:solidFill>
                  <a:srgbClr val="1F2733"/>
                </a:solidFill>
                <a:latin typeface="Calibri" pitchFamily="34" charset="0"/>
                <a:ea typeface="Calibri" pitchFamily="34" charset="-122"/>
                <a:cs typeface="Calibri" pitchFamily="34" charset="-120"/>
              </a:rPr>
              <a:t>N bottlenecks, 25 Gbps each. One long flow crosses all N; one cross flow per link.</a:t>
            </a:r>
            <a:endParaRPr lang="en-US" sz="1200" dirty="0"/>
          </a:p>
          <a:p>
            <a:pPr indent="0" marL="0">
              <a:buNone/>
            </a:pPr>
            <a:r>
              <a:rPr lang="en-US" sz="1200" b="1" spc="200" kern="0" dirty="0">
                <a:solidFill>
                  <a:srgbClr val="5B6675"/>
                </a:solidFill>
                <a:latin typeface="Calibri" pitchFamily="34" charset="0"/>
                <a:ea typeface="Calibri" pitchFamily="34" charset="-122"/>
                <a:cs typeface="Calibri" pitchFamily="34" charset="-120"/>
              </a:rPr>
              <a:t>Fair answer</a:t>
            </a:r>
            <a:endParaRPr lang="en-US" sz="1200" dirty="0"/>
          </a:p>
          <a:p>
            <a:pPr indent="0" marL="0">
              <a:spcAft>
                <a:spcPts val="800"/>
              </a:spcAft>
              <a:buNone/>
            </a:pPr>
            <a:r>
              <a:rPr lang="en-US" sz="1200" dirty="0">
                <a:solidFill>
                  <a:srgbClr val="1F2733"/>
                </a:solidFill>
                <a:latin typeface="Calibri" pitchFamily="34" charset="0"/>
                <a:ea typeface="Calibri" pitchFamily="34" charset="-122"/>
                <a:cs typeface="Calibri" pitchFamily="34" charset="-120"/>
              </a:rPr>
              <a:t>Every flow gets 12.5 Gbps (progressive filling, recomputed as flows finish).</a:t>
            </a:r>
            <a:endParaRPr lang="en-US" sz="1200" dirty="0"/>
          </a:p>
          <a:p>
            <a:pPr indent="0" marL="0">
              <a:buNone/>
            </a:pPr>
            <a:r>
              <a:rPr lang="en-US" sz="1200" b="1" spc="200" kern="0" dirty="0">
                <a:solidFill>
                  <a:srgbClr val="5B6675"/>
                </a:solidFill>
                <a:latin typeface="Calibri" pitchFamily="34" charset="0"/>
                <a:ea typeface="Calibri" pitchFamily="34" charset="-122"/>
                <a:cs typeface="Calibri" pitchFamily="34" charset="-120"/>
              </a:rPr>
              <a:t>Metric</a:t>
            </a:r>
            <a:endParaRPr lang="en-US" sz="1200" dirty="0"/>
          </a:p>
          <a:p>
            <a:pPr indent="0" marL="0">
              <a:buNone/>
            </a:pPr>
            <a:r>
              <a:rPr lang="en-US" sz="1200" dirty="0">
                <a:solidFill>
                  <a:srgbClr val="1F2733"/>
                </a:solidFill>
                <a:latin typeface="Calibri" pitchFamily="34" charset="0"/>
                <a:ea typeface="Calibri" pitchFamily="34" charset="-122"/>
                <a:cs typeface="Calibri" pitchFamily="34" charset="-120"/>
              </a:rPr>
              <a:t>unfairness = long FCT / mean short FCT.  Oracle = 1.0</a:t>
            </a:r>
            <a:endParaRPr lang="en-US" sz="1200" dirty="0"/>
          </a:p>
        </p:txBody>
      </p:sp>
      <p:sp>
        <p:nvSpPr>
          <p:cNvPr id="7" name="Text 4"/>
          <p:cNvSpPr/>
          <p:nvPr/>
        </p:nvSpPr>
        <p:spPr>
          <a:xfrm>
            <a:off x="685800" y="4343400"/>
            <a:ext cx="8046720" cy="365760"/>
          </a:xfrm>
          <a:prstGeom prst="rect">
            <a:avLst/>
          </a:prstGeom>
          <a:noFill/>
          <a:ln/>
        </p:spPr>
        <p:txBody>
          <a:bodyPr wrap="square" rtlCol="0" anchor="ctr"/>
          <a:lstStyle/>
          <a:p>
            <a:pPr algn="ctr" indent="0" marL="0">
              <a:buNone/>
            </a:pPr>
            <a:r>
              <a:rPr lang="en-US" sz="1200" i="1" dirty="0">
                <a:solidFill>
                  <a:srgbClr val="5B6675"/>
                </a:solidFill>
                <a:latin typeface="Calibri" pitchFamily="34" charset="0"/>
                <a:ea typeface="Calibri" pitchFamily="34" charset="-122"/>
                <a:cs typeface="Calibri" pitchFamily="34" charset="-120"/>
              </a:rPr>
              <a:t>Deterministic: every configuration reproduces byte-identical artifacts.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138160" cy="274320"/>
          </a:xfrm>
          <a:prstGeom prst="rect">
            <a:avLst/>
          </a:prstGeom>
          <a:noFill/>
          <a:ln/>
        </p:spPr>
        <p:txBody>
          <a:bodyPr wrap="square" lIns="0" tIns="0" rIns="0" bIns="0" rtlCol="0" anchor="ctr"/>
          <a:lstStyle/>
          <a:p>
            <a:pPr indent="0" marL="0">
              <a:buNone/>
            </a:pPr>
            <a:r>
              <a:rPr lang="en-US" sz="1100" b="1" spc="300" kern="0" dirty="0">
                <a:solidFill>
                  <a:srgbClr val="5B6675"/>
                </a:solidFill>
                <a:latin typeface="Calibri" pitchFamily="34" charset="0"/>
                <a:ea typeface="Calibri" pitchFamily="34" charset="-122"/>
                <a:cs typeface="Calibri" pitchFamily="34" charset="-120"/>
              </a:rPr>
              <a:t>FINDING 1</a:t>
            </a:r>
            <a:endParaRPr lang="en-US" sz="1100" dirty="0"/>
          </a:p>
        </p:txBody>
      </p:sp>
      <p:sp>
        <p:nvSpPr>
          <p:cNvPr id="3" name="Text 1"/>
          <p:cNvSpPr/>
          <p:nvPr/>
        </p:nvSpPr>
        <p:spPr>
          <a:xfrm>
            <a:off x="502920" y="502920"/>
            <a:ext cx="8138160" cy="566928"/>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The long flow is starved ≈ 2× — and it's structural</a:t>
            </a:r>
            <a:endParaRPr lang="en-US" sz="2700" dirty="0"/>
          </a:p>
        </p:txBody>
      </p:sp>
      <p:graphicFrame>
        <p:nvGraphicFramePr>
          <p:cNvPr id="4" name="Chart 0" descr=""/>
          <p:cNvGraphicFramePr/>
          <p:nvPr/>
        </p:nvGraphicFramePr>
        <p:xfrm>
          <a:off x="502920" y="1280160"/>
          <a:ext cx="5029200" cy="32004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502920" y="4526280"/>
            <a:ext cx="5029200" cy="274320"/>
          </a:xfrm>
          <a:prstGeom prst="rect">
            <a:avLst/>
          </a:prstGeom>
          <a:noFill/>
          <a:ln/>
        </p:spPr>
        <p:txBody>
          <a:bodyPr wrap="square" lIns="0" tIns="0" rIns="0" bIns="0" rtlCol="0" anchor="ctr"/>
          <a:lstStyle/>
          <a:p>
            <a:pPr algn="ctr" indent="0" marL="0">
              <a:buNone/>
            </a:pPr>
            <a:r>
              <a:rPr lang="en-US" sz="1100" i="1" dirty="0">
                <a:solidFill>
                  <a:srgbClr val="5B6675"/>
                </a:solidFill>
                <a:latin typeface="Calibri" pitchFamily="34" charset="0"/>
                <a:ea typeface="Calibri" pitchFamily="34" charset="-122"/>
                <a:cs typeface="Calibri" pitchFamily="34" charset="-120"/>
              </a:rPr>
              <a:t>unfairness ratio — max-min oracle = 1.0</a:t>
            </a:r>
            <a:endParaRPr lang="en-US" sz="1100" dirty="0"/>
          </a:p>
        </p:txBody>
      </p:sp>
      <p:sp>
        <p:nvSpPr>
          <p:cNvPr id="6" name="Shape 3"/>
          <p:cNvSpPr/>
          <p:nvPr/>
        </p:nvSpPr>
        <p:spPr>
          <a:xfrm>
            <a:off x="5806440" y="1298448"/>
            <a:ext cx="2880360" cy="932688"/>
          </a:xfrm>
          <a:prstGeom prst="roundRect">
            <a:avLst>
              <a:gd name="adj" fmla="val 8824"/>
            </a:avLst>
          </a:prstGeom>
          <a:solidFill>
            <a:srgbClr val="F7E9E8"/>
          </a:solidFill>
          <a:ln/>
          <a:effectLst>
            <a:outerShdw sx="100000" sy="100000" kx="0" ky="0" algn="bl" rotWithShape="0" blurRad="88900" dist="25400" dir="2700000">
              <a:srgbClr val="000000">
                <a:alpha val="14000"/>
              </a:srgbClr>
            </a:outerShdw>
          </a:effectLst>
        </p:spPr>
      </p:sp>
      <p:sp>
        <p:nvSpPr>
          <p:cNvPr id="7" name="Text 4"/>
          <p:cNvSpPr/>
          <p:nvPr/>
        </p:nvSpPr>
        <p:spPr>
          <a:xfrm>
            <a:off x="5989320" y="1389888"/>
            <a:ext cx="1143000" cy="749808"/>
          </a:xfrm>
          <a:prstGeom prst="rect">
            <a:avLst/>
          </a:prstGeom>
          <a:noFill/>
          <a:ln/>
        </p:spPr>
        <p:txBody>
          <a:bodyPr wrap="square" lIns="0" tIns="0" rIns="0" bIns="0" rtlCol="0" anchor="ctr"/>
          <a:lstStyle/>
          <a:p>
            <a:pPr indent="0" marL="0">
              <a:buNone/>
            </a:pPr>
            <a:r>
              <a:rPr lang="en-US" sz="2600" b="1" dirty="0">
                <a:solidFill>
                  <a:srgbClr val="C0504D"/>
                </a:solidFill>
                <a:latin typeface="Cambria" pitchFamily="34" charset="0"/>
                <a:ea typeface="Cambria" pitchFamily="34" charset="-122"/>
                <a:cs typeface="Cambria" pitchFamily="34" charset="-120"/>
              </a:rPr>
              <a:t>1.96×</a:t>
            </a:r>
            <a:endParaRPr lang="en-US" sz="2600" dirty="0"/>
          </a:p>
        </p:txBody>
      </p:sp>
      <p:sp>
        <p:nvSpPr>
          <p:cNvPr id="8" name="Text 5"/>
          <p:cNvSpPr/>
          <p:nvPr/>
        </p:nvSpPr>
        <p:spPr>
          <a:xfrm>
            <a:off x="7132320" y="1389888"/>
            <a:ext cx="1463040" cy="749808"/>
          </a:xfrm>
          <a:prstGeom prst="rect">
            <a:avLst/>
          </a:prstGeom>
          <a:noFill/>
          <a:ln/>
        </p:spPr>
        <p:txBody>
          <a:bodyPr wrap="square" lIns="0" tIns="0" rIns="0" bIns="0" rtlCol="0" anchor="ctr"/>
          <a:lstStyle/>
          <a:p>
            <a:pPr indent="0" marL="0">
              <a:buNone/>
            </a:pPr>
            <a:r>
              <a:rPr lang="en-US" sz="1150" dirty="0">
                <a:solidFill>
                  <a:srgbClr val="1F2733"/>
                </a:solidFill>
                <a:latin typeface="Calibri" pitchFamily="34" charset="0"/>
                <a:ea typeface="Calibri" pitchFamily="34" charset="-122"/>
                <a:cs typeface="Calibri" pitchFamily="34" charset="-120"/>
              </a:rPr>
              <a:t>penalty at N = 4</a:t>
            </a:r>
            <a:endParaRPr lang="en-US" sz="1150" dirty="0"/>
          </a:p>
        </p:txBody>
      </p:sp>
      <p:sp>
        <p:nvSpPr>
          <p:cNvPr id="9" name="Shape 6"/>
          <p:cNvSpPr/>
          <p:nvPr/>
        </p:nvSpPr>
        <p:spPr>
          <a:xfrm>
            <a:off x="5806440" y="2377440"/>
            <a:ext cx="2880360" cy="932688"/>
          </a:xfrm>
          <a:prstGeom prst="roundRect">
            <a:avLst>
              <a:gd name="adj" fmla="val 8824"/>
            </a:avLst>
          </a:prstGeom>
          <a:solidFill>
            <a:srgbClr val="F7E9E8"/>
          </a:solidFill>
          <a:ln/>
          <a:effectLst>
            <a:outerShdw sx="100000" sy="100000" kx="0" ky="0" algn="bl" rotWithShape="0" blurRad="88900" dist="25400" dir="2700000">
              <a:srgbClr val="000000">
                <a:alpha val="14000"/>
              </a:srgbClr>
            </a:outerShdw>
          </a:effectLst>
        </p:spPr>
      </p:sp>
      <p:sp>
        <p:nvSpPr>
          <p:cNvPr id="10" name="Text 7"/>
          <p:cNvSpPr/>
          <p:nvPr/>
        </p:nvSpPr>
        <p:spPr>
          <a:xfrm>
            <a:off x="5989320" y="2468880"/>
            <a:ext cx="1143000" cy="749808"/>
          </a:xfrm>
          <a:prstGeom prst="rect">
            <a:avLst/>
          </a:prstGeom>
          <a:noFill/>
          <a:ln/>
        </p:spPr>
        <p:txBody>
          <a:bodyPr wrap="square" lIns="0" tIns="0" rIns="0" bIns="0" rtlCol="0" anchor="ctr"/>
          <a:lstStyle/>
          <a:p>
            <a:pPr indent="0" marL="0">
              <a:buNone/>
            </a:pPr>
            <a:r>
              <a:rPr lang="en-US" sz="2600" b="1" dirty="0">
                <a:solidFill>
                  <a:srgbClr val="C0504D"/>
                </a:solidFill>
                <a:latin typeface="Cambria" pitchFamily="34" charset="0"/>
                <a:ea typeface="Cambria" pitchFamily="34" charset="-122"/>
                <a:cs typeface="Cambria" pitchFamily="34" charset="-120"/>
              </a:rPr>
              <a:t>3.5×</a:t>
            </a:r>
            <a:endParaRPr lang="en-US" sz="2600" dirty="0"/>
          </a:p>
        </p:txBody>
      </p:sp>
      <p:sp>
        <p:nvSpPr>
          <p:cNvPr id="11" name="Text 8"/>
          <p:cNvSpPr/>
          <p:nvPr/>
        </p:nvSpPr>
        <p:spPr>
          <a:xfrm>
            <a:off x="7132320" y="2468880"/>
            <a:ext cx="1463040" cy="749808"/>
          </a:xfrm>
          <a:prstGeom prst="rect">
            <a:avLst/>
          </a:prstGeom>
          <a:noFill/>
          <a:ln/>
        </p:spPr>
        <p:txBody>
          <a:bodyPr wrap="square" lIns="0" tIns="0" rIns="0" bIns="0" rtlCol="0" anchor="ctr"/>
          <a:lstStyle/>
          <a:p>
            <a:pPr indent="0" marL="0">
              <a:buNone/>
            </a:pPr>
            <a:r>
              <a:rPr lang="en-US" sz="1150" dirty="0">
                <a:solidFill>
                  <a:srgbClr val="1F2733"/>
                </a:solidFill>
                <a:latin typeface="Calibri" pitchFamily="34" charset="0"/>
                <a:ea typeface="Calibri" pitchFamily="34" charset="-122"/>
                <a:cs typeface="Calibri" pitchFamily="34" charset="-120"/>
              </a:rPr>
              <a:t>when the long flow is small (RPC-scale)</a:t>
            </a:r>
            <a:endParaRPr lang="en-US" sz="1150" dirty="0"/>
          </a:p>
        </p:txBody>
      </p:sp>
      <p:sp>
        <p:nvSpPr>
          <p:cNvPr id="12" name="Shape 9"/>
          <p:cNvSpPr/>
          <p:nvPr/>
        </p:nvSpPr>
        <p:spPr>
          <a:xfrm>
            <a:off x="5806440" y="3456432"/>
            <a:ext cx="2880360" cy="932688"/>
          </a:xfrm>
          <a:prstGeom prst="roundRect">
            <a:avLst>
              <a:gd name="adj" fmla="val 8824"/>
            </a:avLst>
          </a:prstGeom>
          <a:solidFill>
            <a:srgbClr val="EEF3FB"/>
          </a:solidFill>
          <a:ln/>
          <a:effectLst>
            <a:outerShdw sx="100000" sy="100000" kx="0" ky="0" algn="bl" rotWithShape="0" blurRad="88900" dist="25400" dir="2700000">
              <a:srgbClr val="000000">
                <a:alpha val="14000"/>
              </a:srgbClr>
            </a:outerShdw>
          </a:effectLst>
        </p:spPr>
      </p:sp>
      <p:sp>
        <p:nvSpPr>
          <p:cNvPr id="13" name="Text 10"/>
          <p:cNvSpPr/>
          <p:nvPr/>
        </p:nvSpPr>
        <p:spPr>
          <a:xfrm>
            <a:off x="5989320" y="3547872"/>
            <a:ext cx="1143000" cy="749808"/>
          </a:xfrm>
          <a:prstGeom prst="rect">
            <a:avLst/>
          </a:prstGeom>
          <a:noFill/>
          <a:ln/>
        </p:spPr>
        <p:txBody>
          <a:bodyPr wrap="square" lIns="0" tIns="0" rIns="0" bIns="0"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N ≥ 5</a:t>
            </a:r>
            <a:endParaRPr lang="en-US" sz="2600" dirty="0"/>
          </a:p>
        </p:txBody>
      </p:sp>
      <p:sp>
        <p:nvSpPr>
          <p:cNvPr id="14" name="Text 11"/>
          <p:cNvSpPr/>
          <p:nvPr/>
        </p:nvSpPr>
        <p:spPr>
          <a:xfrm>
            <a:off x="7132320" y="3547872"/>
            <a:ext cx="1463040" cy="749808"/>
          </a:xfrm>
          <a:prstGeom prst="rect">
            <a:avLst/>
          </a:prstGeom>
          <a:noFill/>
          <a:ln/>
        </p:spPr>
        <p:txBody>
          <a:bodyPr wrap="square" lIns="0" tIns="0" rIns="0" bIns="0" rtlCol="0" anchor="ctr"/>
          <a:lstStyle/>
          <a:p>
            <a:pPr indent="0" marL="0">
              <a:buNone/>
            </a:pPr>
            <a:r>
              <a:rPr lang="en-US" sz="1150" dirty="0">
                <a:solidFill>
                  <a:srgbClr val="1F2733"/>
                </a:solidFill>
                <a:latin typeface="Calibri" pitchFamily="34" charset="0"/>
                <a:ea typeface="Calibri" pitchFamily="34" charset="-122"/>
                <a:cs typeface="Calibri" pitchFamily="34" charset="-120"/>
              </a:rPr>
              <a:t>breaks outright: INT maxHop overflow</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138160" cy="274320"/>
          </a:xfrm>
          <a:prstGeom prst="rect">
            <a:avLst/>
          </a:prstGeom>
          <a:noFill/>
          <a:ln/>
        </p:spPr>
        <p:txBody>
          <a:bodyPr wrap="square" lIns="0" tIns="0" rIns="0" bIns="0" rtlCol="0" anchor="ctr"/>
          <a:lstStyle/>
          <a:p>
            <a:pPr indent="0" marL="0">
              <a:buNone/>
            </a:pPr>
            <a:r>
              <a:rPr lang="en-US" sz="1100" b="1" spc="300" kern="0" dirty="0">
                <a:solidFill>
                  <a:srgbClr val="5B6675"/>
                </a:solidFill>
                <a:latin typeface="Calibri" pitchFamily="34" charset="0"/>
                <a:ea typeface="Calibri" pitchFamily="34" charset="-122"/>
                <a:cs typeface="Calibri" pitchFamily="34" charset="-120"/>
              </a:rPr>
              <a:t>FINDING 2</a:t>
            </a:r>
            <a:endParaRPr lang="en-US" sz="1100" dirty="0"/>
          </a:p>
        </p:txBody>
      </p:sp>
      <p:sp>
        <p:nvSpPr>
          <p:cNvPr id="3" name="Text 1"/>
          <p:cNvSpPr/>
          <p:nvPr/>
        </p:nvSpPr>
        <p:spPr>
          <a:xfrm>
            <a:off x="502920" y="502920"/>
            <a:ext cx="8138160" cy="566928"/>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Winner-take-all — and nothing is ‘wrong’</a:t>
            </a:r>
            <a:endParaRPr lang="en-US" sz="2700" dirty="0"/>
          </a:p>
        </p:txBody>
      </p:sp>
      <p:graphicFrame>
        <p:nvGraphicFramePr>
          <p:cNvPr id="4" name="Chart 0" descr=""/>
          <p:cNvGraphicFramePr/>
          <p:nvPr/>
        </p:nvGraphicFramePr>
        <p:xfrm>
          <a:off x="502920" y="1325880"/>
          <a:ext cx="5120640" cy="30632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502920" y="4434840"/>
            <a:ext cx="5120640" cy="320040"/>
          </a:xfrm>
          <a:prstGeom prst="rect">
            <a:avLst/>
          </a:prstGeom>
          <a:noFill/>
          <a:ln/>
        </p:spPr>
        <p:txBody>
          <a:bodyPr wrap="square" rtlCol="0" anchor="ctr"/>
          <a:lstStyle/>
          <a:p>
            <a:pPr algn="ctr" indent="0" marL="0">
              <a:buNone/>
            </a:pPr>
            <a:r>
              <a:rPr lang="en-US" sz="1100" i="1" dirty="0">
                <a:solidFill>
                  <a:srgbClr val="5B6675"/>
                </a:solidFill>
                <a:latin typeface="Calibri" pitchFamily="34" charset="0"/>
                <a:ea typeface="Calibri" pitchFamily="34" charset="-122"/>
                <a:cs typeface="Calibri" pitchFamily="34" charset="-120"/>
              </a:rPr>
              <a:t>stock HPCC, N = 4, first 18 ms — fair share is 12.5 Gbps for everyone</a:t>
            </a:r>
            <a:endParaRPr lang="en-US" sz="1100" dirty="0"/>
          </a:p>
        </p:txBody>
      </p:sp>
      <p:sp>
        <p:nvSpPr>
          <p:cNvPr id="6" name="Shape 3"/>
          <p:cNvSpPr/>
          <p:nvPr/>
        </p:nvSpPr>
        <p:spPr>
          <a:xfrm>
            <a:off x="5897880" y="1371600"/>
            <a:ext cx="2788920" cy="3017520"/>
          </a:xfrm>
          <a:prstGeom prst="roundRect">
            <a:avLst>
              <a:gd name="adj" fmla="val 2951"/>
            </a:avLst>
          </a:prstGeom>
          <a:solidFill>
            <a:srgbClr val="F7E9E8"/>
          </a:solidFill>
          <a:ln/>
          <a:effectLst>
            <a:outerShdw sx="100000" sy="100000" kx="0" ky="0" algn="bl" rotWithShape="0" blurRad="88900" dist="25400" dir="2700000">
              <a:srgbClr val="000000">
                <a:alpha val="14000"/>
              </a:srgbClr>
            </a:outerShdw>
          </a:effectLst>
        </p:spPr>
      </p:sp>
      <p:sp>
        <p:nvSpPr>
          <p:cNvPr id="7" name="Text 4"/>
          <p:cNvSpPr/>
          <p:nvPr/>
        </p:nvSpPr>
        <p:spPr>
          <a:xfrm>
            <a:off x="6126480" y="1572768"/>
            <a:ext cx="2331720" cy="2651760"/>
          </a:xfrm>
          <a:prstGeom prst="rect">
            <a:avLst/>
          </a:prstGeom>
          <a:noFill/>
          <a:ln/>
        </p:spPr>
        <p:txBody>
          <a:bodyPr wrap="square" lIns="0" tIns="0" rIns="0" bIns="0" rtlCol="0" anchor="ctr"/>
          <a:lstStyle/>
          <a:p>
            <a:pPr indent="0" marL="0">
              <a:spcAft>
                <a:spcPts val="600"/>
              </a:spcAft>
              <a:buNone/>
            </a:pPr>
            <a:r>
              <a:rPr lang="en-US" sz="1500" b="1" dirty="0">
                <a:solidFill>
                  <a:srgbClr val="C0504D"/>
                </a:solidFill>
                <a:latin typeface="Calibri" pitchFamily="34" charset="0"/>
                <a:ea typeface="Calibri" pitchFamily="34" charset="-122"/>
                <a:cs typeface="Calibri" pitchFamily="34" charset="-120"/>
              </a:rPr>
              <a:t>Zero PFC. Zero loss.</a:t>
            </a:r>
            <a:endParaRPr lang="en-US" sz="1500" dirty="0"/>
          </a:p>
          <a:p>
            <a:pPr indent="0" marL="0">
              <a:spcAft>
                <a:spcPts val="1000"/>
              </a:spcAft>
              <a:buNone/>
            </a:pPr>
            <a:r>
              <a:rPr lang="en-US" sz="1250" dirty="0">
                <a:solidFill>
                  <a:srgbClr val="1F2733"/>
                </a:solidFill>
                <a:latin typeface="Calibri" pitchFamily="34" charset="0"/>
                <a:ea typeface="Calibri" pitchFamily="34" charset="-122"/>
                <a:cs typeface="Calibri" pitchFamily="34" charset="-120"/>
              </a:rPr>
              <a:t>No pathology to point at — every link is at target utilization η.</a:t>
            </a:r>
            <a:endParaRPr lang="en-US" sz="1500" dirty="0"/>
          </a:p>
          <a:p>
            <a:pPr indent="0" marL="0">
              <a:spcAft>
                <a:spcPts val="1000"/>
              </a:spcAft>
              <a:buNone/>
            </a:pPr>
            <a:r>
              <a:rPr lang="en-US" sz="1350" b="1" dirty="0">
                <a:solidFill>
                  <a:srgbClr val="1F2733"/>
                </a:solidFill>
                <a:latin typeface="Calibri" pitchFamily="34" charset="0"/>
                <a:ea typeface="Calibri" pitchFamily="34" charset="-122"/>
                <a:cs typeface="Calibri" pitchFamily="34" charset="-120"/>
              </a:rPr>
              <a:t>The unfair allocation is the control law's equilibrium.</a:t>
            </a:r>
            <a:endParaRPr lang="en-US" sz="1500" dirty="0"/>
          </a:p>
          <a:p>
            <a:pPr indent="0" marL="0">
              <a:buNone/>
            </a:pPr>
            <a:r>
              <a:rPr lang="en-US" sz="1200" dirty="0">
                <a:solidFill>
                  <a:srgbClr val="5B6675"/>
                </a:solidFill>
                <a:latin typeface="Calibri" pitchFamily="34" charset="0"/>
                <a:ea typeface="Calibri" pitchFamily="34" charset="-122"/>
                <a:cs typeface="Calibri" pitchFamily="34" charset="-120"/>
              </a:rPr>
              <a:t>At each shared link the local single-bottleneck flow wins; the long flow is squeezed at all of them.</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138160" cy="274320"/>
          </a:xfrm>
          <a:prstGeom prst="rect">
            <a:avLst/>
          </a:prstGeom>
          <a:noFill/>
          <a:ln/>
        </p:spPr>
        <p:txBody>
          <a:bodyPr wrap="square" lIns="0" tIns="0" rIns="0" bIns="0" rtlCol="0" anchor="ctr"/>
          <a:lstStyle/>
          <a:p>
            <a:pPr indent="0" marL="0">
              <a:buNone/>
            </a:pPr>
            <a:r>
              <a:rPr lang="en-US" sz="1100" b="1" spc="300" kern="0" dirty="0">
                <a:solidFill>
                  <a:srgbClr val="5B6675"/>
                </a:solidFill>
                <a:latin typeface="Calibri" pitchFamily="34" charset="0"/>
                <a:ea typeface="Calibri" pitchFamily="34" charset="-122"/>
                <a:cs typeface="Calibri" pitchFamily="34" charset="-120"/>
              </a:rPr>
              <a:t>NEGATIVE RESULT</a:t>
            </a:r>
            <a:endParaRPr lang="en-US" sz="1100" dirty="0"/>
          </a:p>
        </p:txBody>
      </p:sp>
      <p:sp>
        <p:nvSpPr>
          <p:cNvPr id="3" name="Text 1"/>
          <p:cNvSpPr/>
          <p:nvPr/>
        </p:nvSpPr>
        <p:spPr>
          <a:xfrm>
            <a:off x="502920" y="502920"/>
            <a:ext cx="8138160" cy="566928"/>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Six sender-only designs — none gets close</a:t>
            </a:r>
            <a:endParaRPr lang="en-US" sz="27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8092440" cy="914400"/>
        </p:xfrm>
        <a:graphic>
          <a:graphicData uri="http://schemas.openxmlformats.org/drawingml/2006/table">
            <a:tbl>
              <a:tblPr/>
              <a:tblGrid>
                <a:gridCol w="2880360"/>
                <a:gridCol w="3566160"/>
                <a:gridCol w="1645920"/>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sender-side variant (mb_mode)</a:t>
                      </a:r>
                      <a:endParaRPr lang="en-US" sz="1250" dirty="0">
                        <a:latin typeface="Calibri" charset="0"/>
                        <a:ea typeface="Calibri" charset="0"/>
                        <a:cs typeface="Calibri" charset="0"/>
                      </a:endParaRPr>
                    </a:p>
                  </a:txBody>
                  <a:tcPr marL="54864" marR="54864"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E2761"/>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idea</a:t>
                      </a:r>
                      <a:endParaRPr lang="en-US" sz="1250" dirty="0">
                        <a:latin typeface="Calibri" charset="0"/>
                        <a:ea typeface="Calibri" charset="0"/>
                        <a:cs typeface="Calibri" charset="0"/>
                      </a:endParaRPr>
                    </a:p>
                  </a:txBody>
                  <a:tcPr marL="54864" marR="54864"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E2761"/>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best penalty @ N=4</a:t>
                      </a:r>
                      <a:endParaRPr lang="en-US" sz="1250" dirty="0">
                        <a:latin typeface="Calibri" charset="0"/>
                        <a:ea typeface="Calibri" charset="0"/>
                        <a:cs typeface="Calibri" charset="0"/>
                      </a:endParaRPr>
                    </a:p>
                  </a:txBody>
                  <a:tcPr marL="54864" marR="54864"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E2761"/>
                    </a:solidFill>
                  </a:tcPr>
                </a:tc>
              </a:tr>
              <a:tr h="384048">
                <a:tc>
                  <a:txBody>
                    <a:bodyPr/>
                    <a:lstStyle/>
                    <a:p>
                      <a:pPr indent="0" marL="0">
                        <a:buNone/>
                      </a:pPr>
                      <a:r>
                        <a:rPr lang="en-US" sz="1250" dirty="0">
                          <a:solidFill>
                            <a:srgbClr val="1F2733"/>
                          </a:solidFill>
                          <a:latin typeface="Calibri" pitchFamily="34" charset="0"/>
                          <a:ea typeface="Calibri" pitchFamily="34" charset="-122"/>
                          <a:cs typeface="Calibri" pitchFamily="34" charset="-120"/>
                        </a:rPr>
                        <a:t>k-aware additive increase</a:t>
                      </a:r>
                      <a:endParaRPr lang="en-US" sz="1250" dirty="0">
                        <a:latin typeface="Calibri" charset="0"/>
                        <a:ea typeface="Calibri" charset="0"/>
                        <a:cs typeface="Calibri" charset="0"/>
                      </a:endParaRPr>
                    </a:p>
                  </a:txBody>
                  <a:tcPr marL="54864" marR="54864"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1F2733"/>
                          </a:solidFill>
                          <a:latin typeface="Calibri" pitchFamily="34" charset="0"/>
                          <a:ea typeface="Calibri" pitchFamily="34" charset="-122"/>
                          <a:cs typeface="Calibri" pitchFamily="34" charset="-120"/>
                        </a:rPr>
                        <a:t>scale AI by congested-hop count</a:t>
                      </a:r>
                      <a:endParaRPr lang="en-US" sz="1250" dirty="0">
                        <a:latin typeface="Calibri" charset="0"/>
                        <a:ea typeface="Calibri" charset="0"/>
                        <a:cs typeface="Calibri" charset="0"/>
                      </a:endParaRPr>
                    </a:p>
                  </a:txBody>
                  <a:tcPr marL="54864" marR="54864"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C0504D"/>
                          </a:solidFill>
                          <a:latin typeface="Calibri" pitchFamily="34" charset="0"/>
                          <a:ea typeface="Calibri" pitchFamily="34" charset="-122"/>
                          <a:cs typeface="Calibri" pitchFamily="34" charset="-120"/>
                        </a:rPr>
                        <a:t>1.63×</a:t>
                      </a:r>
                      <a:endParaRPr lang="en-US" sz="1250" dirty="0">
                        <a:latin typeface="Calibri" charset="0"/>
                        <a:ea typeface="Calibri" charset="0"/>
                        <a:cs typeface="Calibri" charset="0"/>
                      </a:endParaRPr>
                    </a:p>
                  </a:txBody>
                  <a:tcPr marL="54864" marR="54864"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1F2733"/>
                          </a:solidFill>
                          <a:latin typeface="Calibri" pitchFamily="34" charset="0"/>
                          <a:ea typeface="Calibri" pitchFamily="34" charset="-122"/>
                          <a:cs typeface="Calibri" pitchFamily="34" charset="-120"/>
                        </a:rPr>
                        <a:t>debiased max/mean blend</a:t>
                      </a:r>
                      <a:endParaRPr lang="en-US" sz="1250" dirty="0">
                        <a:latin typeface="Calibri" charset="0"/>
                        <a:ea typeface="Calibri" charset="0"/>
                        <a:cs typeface="Calibri" charset="0"/>
                      </a:endParaRPr>
                    </a:p>
                  </a:txBody>
                  <a:tcPr marL="54864" marR="54864"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1F2733"/>
                          </a:solidFill>
                          <a:latin typeface="Calibri" pitchFamily="34" charset="0"/>
                          <a:ea typeface="Calibri" pitchFamily="34" charset="-122"/>
                          <a:cs typeface="Calibri" pitchFamily="34" charset="-120"/>
                        </a:rPr>
                        <a:t>soften the max-hop bias</a:t>
                      </a:r>
                      <a:endParaRPr lang="en-US" sz="1250" dirty="0">
                        <a:latin typeface="Calibri" charset="0"/>
                        <a:ea typeface="Calibri" charset="0"/>
                        <a:cs typeface="Calibri" charset="0"/>
                      </a:endParaRPr>
                    </a:p>
                  </a:txBody>
                  <a:tcPr marL="54864" marR="54864"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C0504D"/>
                          </a:solidFill>
                          <a:latin typeface="Calibri" pitchFamily="34" charset="0"/>
                          <a:ea typeface="Calibri" pitchFamily="34" charset="-122"/>
                          <a:cs typeface="Calibri" pitchFamily="34" charset="-120"/>
                        </a:rPr>
                        <a:t>1.95×</a:t>
                      </a:r>
                      <a:endParaRPr lang="en-US" sz="1250" dirty="0">
                        <a:latin typeface="Calibri" charset="0"/>
                        <a:ea typeface="Calibri" charset="0"/>
                        <a:cs typeface="Calibri" charset="0"/>
                      </a:endParaRPr>
                    </a:p>
                  </a:txBody>
                  <a:tcPr marL="54864" marR="54864"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1F2733"/>
                          </a:solidFill>
                          <a:latin typeface="Calibri" pitchFamily="34" charset="0"/>
                          <a:ea typeface="Calibri" pitchFamily="34" charset="-122"/>
                          <a:cs typeface="Calibri" pitchFamily="34" charset="-120"/>
                        </a:rPr>
                        <a:t>responsibility-weighted MD</a:t>
                      </a:r>
                      <a:endParaRPr lang="en-US" sz="1250" dirty="0">
                        <a:latin typeface="Calibri" charset="0"/>
                        <a:ea typeface="Calibri" charset="0"/>
                        <a:cs typeface="Calibri" charset="0"/>
                      </a:endParaRPr>
                    </a:p>
                  </a:txBody>
                  <a:tcPr marL="54864" marR="54864"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1F2733"/>
                          </a:solidFill>
                          <a:latin typeface="Calibri" pitchFamily="34" charset="0"/>
                          <a:ea typeface="Calibri" pitchFamily="34" charset="-122"/>
                          <a:cs typeface="Calibri" pitchFamily="34" charset="-120"/>
                        </a:rPr>
                        <a:t>MD scaled by own share</a:t>
                      </a:r>
                      <a:endParaRPr lang="en-US" sz="1250" dirty="0">
                        <a:latin typeface="Calibri" charset="0"/>
                        <a:ea typeface="Calibri" charset="0"/>
                        <a:cs typeface="Calibri" charset="0"/>
                      </a:endParaRPr>
                    </a:p>
                  </a:txBody>
                  <a:tcPr marL="54864" marR="54864"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C0504D"/>
                          </a:solidFill>
                          <a:latin typeface="Calibri" pitchFamily="34" charset="0"/>
                          <a:ea typeface="Calibri" pitchFamily="34" charset="-122"/>
                          <a:cs typeface="Calibri" pitchFamily="34" charset="-120"/>
                        </a:rPr>
                        <a:t>1.89×</a:t>
                      </a:r>
                      <a:endParaRPr lang="en-US" sz="1250" dirty="0">
                        <a:latin typeface="Calibri" charset="0"/>
                        <a:ea typeface="Calibri" charset="0"/>
                        <a:cs typeface="Calibri" charset="0"/>
                      </a:endParaRPr>
                    </a:p>
                  </a:txBody>
                  <a:tcPr marL="54864" marR="54864"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1F2733"/>
                          </a:solidFill>
                          <a:latin typeface="Calibri" pitchFamily="34" charset="0"/>
                          <a:ea typeface="Calibri" pitchFamily="34" charset="-122"/>
                          <a:cs typeface="Calibri" pitchFamily="34" charset="-120"/>
                        </a:rPr>
                        <a:t>k-th-root MD</a:t>
                      </a:r>
                      <a:endParaRPr lang="en-US" sz="1250" dirty="0">
                        <a:latin typeface="Calibri" charset="0"/>
                        <a:ea typeface="Calibri" charset="0"/>
                        <a:cs typeface="Calibri" charset="0"/>
                      </a:endParaRPr>
                    </a:p>
                  </a:txBody>
                  <a:tcPr marL="54864" marR="54864"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1F2733"/>
                          </a:solidFill>
                          <a:latin typeface="Calibri" pitchFamily="34" charset="0"/>
                          <a:ea typeface="Calibri" pitchFamily="34" charset="-122"/>
                          <a:cs typeface="Calibri" pitchFamily="34" charset="-120"/>
                        </a:rPr>
                        <a:t>split the decrease across hops</a:t>
                      </a:r>
                      <a:endParaRPr lang="en-US" sz="1250" dirty="0">
                        <a:latin typeface="Calibri" charset="0"/>
                        <a:ea typeface="Calibri" charset="0"/>
                        <a:cs typeface="Calibri" charset="0"/>
                      </a:endParaRPr>
                    </a:p>
                  </a:txBody>
                  <a:tcPr marL="54864" marR="54864"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C0504D"/>
                          </a:solidFill>
                          <a:latin typeface="Calibri" pitchFamily="34" charset="0"/>
                          <a:ea typeface="Calibri" pitchFamily="34" charset="-122"/>
                          <a:cs typeface="Calibri" pitchFamily="34" charset="-120"/>
                        </a:rPr>
                        <a:t>1.92×</a:t>
                      </a:r>
                      <a:endParaRPr lang="en-US" sz="1250" dirty="0">
                        <a:latin typeface="Calibri" charset="0"/>
                        <a:ea typeface="Calibri" charset="0"/>
                        <a:cs typeface="Calibri" charset="0"/>
                      </a:endParaRPr>
                    </a:p>
                  </a:txBody>
                  <a:tcPr marL="54864" marR="54864"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1F2733"/>
                          </a:solidFill>
                          <a:latin typeface="Calibri" pitchFamily="34" charset="0"/>
                          <a:ea typeface="Calibri" pitchFamily="34" charset="-122"/>
                          <a:cs typeface="Calibri" pitchFamily="34" charset="-120"/>
                        </a:rPr>
                        <a:t>global share-aware AI</a:t>
                      </a:r>
                      <a:endParaRPr lang="en-US" sz="1250" dirty="0">
                        <a:latin typeface="Calibri" charset="0"/>
                        <a:ea typeface="Calibri" charset="0"/>
                        <a:cs typeface="Calibri" charset="0"/>
                      </a:endParaRPr>
                    </a:p>
                  </a:txBody>
                  <a:tcPr marL="54864" marR="54864"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1F2733"/>
                          </a:solidFill>
                          <a:latin typeface="Calibri" pitchFamily="34" charset="0"/>
                          <a:ea typeface="Calibri" pitchFamily="34" charset="-122"/>
                          <a:cs typeface="Calibri" pitchFamily="34" charset="-120"/>
                        </a:rPr>
                        <a:t>AI boosted by (1 − share)</a:t>
                      </a:r>
                      <a:endParaRPr lang="en-US" sz="1250" dirty="0">
                        <a:latin typeface="Calibri" charset="0"/>
                        <a:ea typeface="Calibri" charset="0"/>
                        <a:cs typeface="Calibri" charset="0"/>
                      </a:endParaRPr>
                    </a:p>
                  </a:txBody>
                  <a:tcPr marL="54864" marR="54864"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C0504D"/>
                          </a:solidFill>
                          <a:latin typeface="Calibri" pitchFamily="34" charset="0"/>
                          <a:ea typeface="Calibri" pitchFamily="34" charset="-122"/>
                          <a:cs typeface="Calibri" pitchFamily="34" charset="-120"/>
                        </a:rPr>
                        <a:t>1.71×</a:t>
                      </a:r>
                      <a:endParaRPr lang="en-US" sz="1250" dirty="0">
                        <a:latin typeface="Calibri" charset="0"/>
                        <a:ea typeface="Calibri" charset="0"/>
                        <a:cs typeface="Calibri" charset="0"/>
                      </a:endParaRPr>
                    </a:p>
                  </a:txBody>
                  <a:tcPr marL="54864" marR="54864"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4224528"/>
            <a:ext cx="8092440" cy="365760"/>
          </a:xfrm>
          <a:prstGeom prst="rect">
            <a:avLst/>
          </a:prstGeom>
          <a:noFill/>
          <a:ln/>
        </p:spPr>
        <p:txBody>
          <a:bodyPr wrap="square" rtlCol="0" anchor="ctr"/>
          <a:lstStyle/>
          <a:p>
            <a:pPr algn="ctr" indent="0" marL="0">
              <a:buNone/>
            </a:pPr>
            <a:r>
              <a:rPr lang="en-US" sz="1300" dirty="0">
                <a:solidFill>
                  <a:srgbClr val="5B6675"/>
                </a:solidFill>
                <a:latin typeface="Calibri" pitchFamily="34" charset="0"/>
                <a:ea typeface="Calibri" pitchFamily="34" charset="-122"/>
                <a:cs typeface="Calibri" pitchFamily="34" charset="-120"/>
              </a:rPr>
              <a:t>Each variant is a 1–2 line change in HPCC’s update </a:t>
            </a:r>
            <a:pPr algn="ctr" indent="0" marL="0">
              <a:buNone/>
            </a:pPr>
            <a:r>
              <a:rPr lang="en-US" sz="1300" i="1" dirty="0">
                <a:solidFill>
                  <a:srgbClr val="5B6675"/>
                </a:solidFill>
                <a:latin typeface="Calibri" pitchFamily="34" charset="0"/>
                <a:ea typeface="Calibri" pitchFamily="34" charset="-122"/>
                <a:cs typeface="Calibri" pitchFamily="34" charset="-120"/>
              </a:rPr>
              <a:t>(mb_mode 0 stays byte-identical to stock)</a:t>
            </a:r>
            <a:pPr algn="ctr" indent="0" marL="0">
              <a:buNone/>
            </a:pPr>
            <a:r>
              <a:rPr lang="en-US" sz="1300" dirty="0">
                <a:solidFill>
                  <a:srgbClr val="5B6675"/>
                </a:solidFill>
                <a:latin typeface="Calibri" pitchFamily="34" charset="0"/>
                <a:ea typeface="Calibri" pitchFamily="34" charset="-122"/>
                <a:cs typeface="Calibri" pitchFamily="34" charset="-120"/>
              </a:rPr>
              <a:t> — the target is 1.0×.</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02920" y="256032"/>
            <a:ext cx="8138160" cy="274320"/>
          </a:xfrm>
          <a:prstGeom prst="rect">
            <a:avLst/>
          </a:prstGeom>
          <a:noFill/>
          <a:ln/>
        </p:spPr>
        <p:txBody>
          <a:bodyPr wrap="square" lIns="0" tIns="0" rIns="0" bIns="0" rtlCol="0" anchor="ctr"/>
          <a:lstStyle/>
          <a:p>
            <a:pPr indent="0" marL="0">
              <a:buNone/>
            </a:pPr>
            <a:r>
              <a:rPr lang="en-US" sz="1100" b="1" spc="300" kern="0" dirty="0">
                <a:solidFill>
                  <a:srgbClr val="CADCFC"/>
                </a:solidFill>
                <a:latin typeface="Calibri" pitchFamily="34" charset="0"/>
                <a:ea typeface="Calibri" pitchFamily="34" charset="-122"/>
                <a:cs typeface="Calibri" pitchFamily="34" charset="-120"/>
              </a:rPr>
              <a:t>WHY</a:t>
            </a:r>
            <a:endParaRPr lang="en-US" sz="1100" dirty="0"/>
          </a:p>
        </p:txBody>
      </p:sp>
      <p:sp>
        <p:nvSpPr>
          <p:cNvPr id="3" name="Text 1"/>
          <p:cNvSpPr/>
          <p:nvPr/>
        </p:nvSpPr>
        <p:spPr>
          <a:xfrm>
            <a:off x="502920" y="502920"/>
            <a:ext cx="8138160" cy="566928"/>
          </a:xfrm>
          <a:prstGeom prst="rect">
            <a:avLst/>
          </a:prstGeom>
          <a:noFill/>
          <a:ln/>
        </p:spPr>
        <p:txBody>
          <a:bodyPr wrap="square" lIns="0" tIns="0" rIns="0" bIns="0" rtlCol="0" anchor="ctr"/>
          <a:lstStyle/>
          <a:p>
            <a:pPr indent="0" marL="0">
              <a:buNone/>
            </a:pPr>
            <a:r>
              <a:rPr lang="en-US" sz="2700" b="1" dirty="0">
                <a:solidFill>
                  <a:srgbClr val="FFFFFF"/>
                </a:solidFill>
                <a:latin typeface="Calibri" pitchFamily="34" charset="0"/>
                <a:ea typeface="Calibri" pitchFamily="34" charset="-122"/>
                <a:cs typeface="Calibri" pitchFamily="34" charset="-120"/>
              </a:rPr>
              <a:t>Where the rate state lives: what the RCP mirror proves</a:t>
            </a:r>
            <a:endParaRPr lang="en-US" sz="2700" dirty="0"/>
          </a:p>
        </p:txBody>
      </p:sp>
      <p:sp>
        <p:nvSpPr>
          <p:cNvPr id="4" name="Shape 2"/>
          <p:cNvSpPr/>
          <p:nvPr/>
        </p:nvSpPr>
        <p:spPr>
          <a:xfrm>
            <a:off x="548640" y="1417320"/>
            <a:ext cx="3886200" cy="2331720"/>
          </a:xfrm>
          <a:prstGeom prst="roundRect">
            <a:avLst>
              <a:gd name="adj" fmla="val 3922"/>
            </a:avLst>
          </a:prstGeom>
          <a:solidFill>
            <a:srgbClr val="FFFFFF"/>
          </a:solidFill>
          <a:ln/>
          <a:effectLst>
            <a:outerShdw sx="100000" sy="100000" kx="0" ky="0" algn="bl" rotWithShape="0" blurRad="88900" dist="25400" dir="2700000">
              <a:srgbClr val="000000">
                <a:alpha val="14000"/>
              </a:srgbClr>
            </a:outerShdw>
          </a:effectLst>
        </p:spPr>
      </p:sp>
      <p:sp>
        <p:nvSpPr>
          <p:cNvPr id="5" name="Text 3"/>
          <p:cNvSpPr/>
          <p:nvPr/>
        </p:nvSpPr>
        <p:spPr>
          <a:xfrm>
            <a:off x="804672" y="1627632"/>
            <a:ext cx="3383280" cy="365760"/>
          </a:xfrm>
          <a:prstGeom prst="rect">
            <a:avLst/>
          </a:prstGeom>
          <a:noFill/>
          <a:ln/>
        </p:spPr>
        <p:txBody>
          <a:bodyPr wrap="square" lIns="0" tIns="0" rIns="0" bIns="0" rtlCol="0" anchor="ctr"/>
          <a:lstStyle/>
          <a:p>
            <a:pPr indent="0" marL="0">
              <a:buNone/>
            </a:pPr>
            <a:r>
              <a:rPr lang="en-US" sz="1600" b="1" dirty="0">
                <a:solidFill>
                  <a:srgbClr val="C0504D"/>
                </a:solidFill>
                <a:latin typeface="Calibri" pitchFamily="34" charset="0"/>
                <a:ea typeface="Calibri" pitchFamily="34" charset="-122"/>
                <a:cs typeface="Calibri" pitchFamily="34" charset="-120"/>
              </a:rPr>
              <a:t>1 · The η-hold equilibrium</a:t>
            </a:r>
            <a:endParaRPr lang="en-US" sz="1600" dirty="0"/>
          </a:p>
        </p:txBody>
      </p:sp>
      <p:sp>
        <p:nvSpPr>
          <p:cNvPr id="6" name="Text 4"/>
          <p:cNvSpPr/>
          <p:nvPr/>
        </p:nvSpPr>
        <p:spPr>
          <a:xfrm>
            <a:off x="804672" y="2057400"/>
            <a:ext cx="3383280" cy="1554480"/>
          </a:xfrm>
          <a:prstGeom prst="rect">
            <a:avLst/>
          </a:prstGeom>
          <a:noFill/>
          <a:ln/>
        </p:spPr>
        <p:txBody>
          <a:bodyPr wrap="square" lIns="0" tIns="0" rIns="0" bIns="0" rtlCol="0" anchor="ctr"/>
          <a:lstStyle/>
          <a:p>
            <a:pPr indent="0" marL="0">
              <a:spcAft>
                <a:spcPts val="600"/>
              </a:spcAft>
              <a:buNone/>
            </a:pPr>
            <a:r>
              <a:rPr lang="en-US" sz="1250" dirty="0">
                <a:solidFill>
                  <a:srgbClr val="1F2733"/>
                </a:solidFill>
                <a:latin typeface="Calibri" pitchFamily="34" charset="0"/>
                <a:ea typeface="Calibri" pitchFamily="34" charset="-122"/>
                <a:cs typeface="Calibri" pitchFamily="34" charset="-120"/>
              </a:rPr>
              <a:t>Links settle at target utilization → HPCC’s multiplicative term ≈ 1.</a:t>
            </a:r>
            <a:endParaRPr lang="en-US" sz="1250" dirty="0"/>
          </a:p>
          <a:p>
            <a:pPr indent="0" marL="0">
              <a:buNone/>
            </a:pPr>
            <a:r>
              <a:rPr lang="en-US" sz="1250" dirty="0">
                <a:solidFill>
                  <a:srgbClr val="5B6675"/>
                </a:solidFill>
                <a:latin typeface="Calibri" pitchFamily="34" charset="0"/>
                <a:ea typeface="Calibri" pitchFamily="34" charset="-122"/>
                <a:cs typeface="Calibri" pitchFamily="34" charset="-120"/>
              </a:rPr>
              <a:t>Every flow holds whatever rate it grabbed at startup. Additive nudges need ~10⁴ RTTs to redistribute.</a:t>
            </a:r>
            <a:endParaRPr lang="en-US" sz="1250" dirty="0"/>
          </a:p>
        </p:txBody>
      </p:sp>
      <p:sp>
        <p:nvSpPr>
          <p:cNvPr id="7" name="Shape 5"/>
          <p:cNvSpPr/>
          <p:nvPr/>
        </p:nvSpPr>
        <p:spPr>
          <a:xfrm>
            <a:off x="4709160" y="1417320"/>
            <a:ext cx="3886200" cy="2331720"/>
          </a:xfrm>
          <a:prstGeom prst="roundRect">
            <a:avLst>
              <a:gd name="adj" fmla="val 3922"/>
            </a:avLst>
          </a:prstGeom>
          <a:solidFill>
            <a:srgbClr val="FFFFFF"/>
          </a:solidFill>
          <a:ln/>
          <a:effectLst>
            <a:outerShdw sx="100000" sy="100000" kx="0" ky="0" algn="bl" rotWithShape="0" blurRad="88900" dist="25400" dir="2700000">
              <a:srgbClr val="000000">
                <a:alpha val="14000"/>
              </a:srgbClr>
            </a:outerShdw>
          </a:effectLst>
        </p:spPr>
      </p:sp>
      <p:sp>
        <p:nvSpPr>
          <p:cNvPr id="8" name="Text 6"/>
          <p:cNvSpPr/>
          <p:nvPr/>
        </p:nvSpPr>
        <p:spPr>
          <a:xfrm>
            <a:off x="4965192" y="1627632"/>
            <a:ext cx="3383280" cy="365760"/>
          </a:xfrm>
          <a:prstGeom prst="rect">
            <a:avLst/>
          </a:prstGeom>
          <a:noFill/>
          <a:ln/>
        </p:spPr>
        <p:txBody>
          <a:bodyPr wrap="square" lIns="0" tIns="0" rIns="0" bIns="0" rtlCol="0" anchor="ctr"/>
          <a:lstStyle/>
          <a:p>
            <a:pPr indent="0" marL="0">
              <a:buNone/>
            </a:pPr>
            <a:r>
              <a:rPr lang="en-US" sz="1600" b="1" dirty="0">
                <a:solidFill>
                  <a:srgbClr val="C0504D"/>
                </a:solidFill>
                <a:latin typeface="Calibri" pitchFamily="34" charset="0"/>
                <a:ea typeface="Calibri" pitchFamily="34" charset="-122"/>
                <a:cs typeface="Calibri" pitchFamily="34" charset="-120"/>
              </a:rPr>
              <a:t>2 · Private estimates never agree</a:t>
            </a:r>
            <a:endParaRPr lang="en-US" sz="1600" dirty="0"/>
          </a:p>
        </p:txBody>
      </p:sp>
      <p:sp>
        <p:nvSpPr>
          <p:cNvPr id="9" name="Text 7"/>
          <p:cNvSpPr/>
          <p:nvPr/>
        </p:nvSpPr>
        <p:spPr>
          <a:xfrm>
            <a:off x="4965192" y="2057400"/>
            <a:ext cx="3383280" cy="1554480"/>
          </a:xfrm>
          <a:prstGeom prst="rect">
            <a:avLst/>
          </a:prstGeom>
          <a:noFill/>
          <a:ln/>
        </p:spPr>
        <p:txBody>
          <a:bodyPr wrap="square" lIns="0" tIns="0" rIns="0" bIns="0" rtlCol="0" anchor="ctr"/>
          <a:lstStyle/>
          <a:p>
            <a:pPr indent="0" marL="0">
              <a:spcAft>
                <a:spcPts val="600"/>
              </a:spcAft>
              <a:buNone/>
            </a:pPr>
            <a:r>
              <a:rPr lang="en-US" sz="1250" dirty="0">
                <a:solidFill>
                  <a:srgbClr val="1F2733"/>
                </a:solidFill>
                <a:latin typeface="Calibri" pitchFamily="34" charset="0"/>
                <a:ea typeface="Calibri" pitchFamily="34" charset="-122"/>
                <a:cs typeface="Calibri" pitchFamily="34" charset="-120"/>
              </a:rPr>
              <a:t>RCP’s inputs (C, y, q) ARE in INT. A sender-side RCP mirror (mb_mode 6) still fails: 1.56× synced, 1.65×/0.81× staggered — direction set by arrival order.</a:t>
            </a:r>
            <a:endParaRPr lang="en-US" sz="1250" dirty="0"/>
          </a:p>
          <a:p>
            <a:pPr indent="0" marL="0">
              <a:buNone/>
            </a:pPr>
            <a:r>
              <a:rPr lang="en-US" sz="1250" dirty="0">
                <a:solidFill>
                  <a:srgbClr val="5B6675"/>
                </a:solidFill>
                <a:latin typeface="Calibri" pitchFamily="34" charset="0"/>
                <a:ea typeface="Calibri" pitchFamily="34" charset="-122"/>
                <a:cs typeface="Calibri" pitchFamily="34" charset="-120"/>
              </a:rPr>
              <a:t>Private copies of the explicit-rate recursion preserve arrival-history asymmetry; ONE shared per-link register erases it. Per-flow fair queueing: 1.97× windowed, equal-but-idle (13× oracle FCT) windowless.</a:t>
            </a:r>
            <a:endParaRPr lang="en-US" sz="1250" dirty="0"/>
          </a:p>
        </p:txBody>
      </p:sp>
      <p:sp>
        <p:nvSpPr>
          <p:cNvPr id="10" name="Shape 8"/>
          <p:cNvSpPr/>
          <p:nvPr/>
        </p:nvSpPr>
        <p:spPr>
          <a:xfrm>
            <a:off x="548640" y="3977640"/>
            <a:ext cx="8046720" cy="777240"/>
          </a:xfrm>
          <a:prstGeom prst="roundRect">
            <a:avLst>
              <a:gd name="adj" fmla="val 11765"/>
            </a:avLst>
          </a:prstGeom>
          <a:solidFill>
            <a:srgbClr val="4F81BD"/>
          </a:solidFill>
          <a:ln/>
          <a:effectLst>
            <a:outerShdw sx="100000" sy="100000" kx="0" ky="0" algn="bl" rotWithShape="0" blurRad="88900" dist="25400" dir="2700000">
              <a:srgbClr val="000000">
                <a:alpha val="14000"/>
              </a:srgbClr>
            </a:outerShdw>
          </a:effectLst>
        </p:spPr>
      </p:sp>
      <p:sp>
        <p:nvSpPr>
          <p:cNvPr id="11" name="Text 9"/>
          <p:cNvSpPr/>
          <p:nvPr/>
        </p:nvSpPr>
        <p:spPr>
          <a:xfrm>
            <a:off x="777240" y="4041648"/>
            <a:ext cx="7589520" cy="658368"/>
          </a:xfrm>
          <a:prstGeom prst="rect">
            <a:avLst/>
          </a:prstGeom>
          <a:noFill/>
          <a:ln/>
        </p:spPr>
        <p:txBody>
          <a:bodyPr wrap="square" rtlCol="0" anchor="ctr"/>
          <a:lstStyle/>
          <a:p>
            <a:pPr algn="ctr" indent="0" marL="0">
              <a:buNone/>
            </a:pPr>
            <a:r>
              <a:rPr lang="en-US" sz="1650" b="1" dirty="0">
                <a:solidFill>
                  <a:srgbClr val="FFFFFF"/>
                </a:solidFill>
                <a:latin typeface="Cambria" pitchFamily="34" charset="0"/>
                <a:ea typeface="Cambria" pitchFamily="34" charset="-122"/>
                <a:cs typeface="Cambria" pitchFamily="34" charset="-120"/>
              </a:rPr>
              <a:t>A shared per-port register carries the history a private copy cannot replicate. That is why it belongs at the switch.</a:t>
            </a:r>
            <a:endParaRPr lang="en-US" sz="1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138160" cy="274320"/>
          </a:xfrm>
          <a:prstGeom prst="rect">
            <a:avLst/>
          </a:prstGeom>
          <a:noFill/>
          <a:ln/>
        </p:spPr>
        <p:txBody>
          <a:bodyPr wrap="square" lIns="0" tIns="0" rIns="0" bIns="0" rtlCol="0" anchor="ctr"/>
          <a:lstStyle/>
          <a:p>
            <a:pPr indent="0" marL="0">
              <a:buNone/>
            </a:pPr>
            <a:r>
              <a:rPr lang="en-US" sz="1100" b="1" spc="300" kern="0" dirty="0">
                <a:solidFill>
                  <a:srgbClr val="5B6675"/>
                </a:solidFill>
                <a:latin typeface="Calibri" pitchFamily="34" charset="0"/>
                <a:ea typeface="Calibri" pitchFamily="34" charset="-122"/>
                <a:cs typeface="Calibri" pitchFamily="34" charset="-120"/>
              </a:rPr>
              <a:t>THE ALTERNATIVE, PART 1</a:t>
            </a:r>
            <a:endParaRPr lang="en-US" sz="1100" dirty="0"/>
          </a:p>
        </p:txBody>
      </p:sp>
      <p:sp>
        <p:nvSpPr>
          <p:cNvPr id="3" name="Text 1"/>
          <p:cNvSpPr/>
          <p:nvPr/>
        </p:nvSpPr>
        <p:spPr>
          <a:xfrm>
            <a:off x="502920" y="502920"/>
            <a:ext cx="8138160" cy="566928"/>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RCP: the link advertises one fair rate to every flow</a:t>
            </a:r>
            <a:endParaRPr lang="en-US" sz="2700" dirty="0"/>
          </a:p>
        </p:txBody>
      </p:sp>
      <p:sp>
        <p:nvSpPr>
          <p:cNvPr id="4" name="Shape 2"/>
          <p:cNvSpPr/>
          <p:nvPr/>
        </p:nvSpPr>
        <p:spPr>
          <a:xfrm>
            <a:off x="548640" y="1371600"/>
            <a:ext cx="8092440" cy="914400"/>
          </a:xfrm>
          <a:prstGeom prst="roundRect">
            <a:avLst>
              <a:gd name="adj" fmla="val 9000"/>
            </a:avLst>
          </a:prstGeom>
          <a:solidFill>
            <a:srgbClr val="EEF3FB"/>
          </a:solidFill>
          <a:ln/>
          <a:effectLst>
            <a:outerShdw sx="100000" sy="100000" kx="0" ky="0" algn="bl" rotWithShape="0" blurRad="88900" dist="25400" dir="2700000">
              <a:srgbClr val="000000">
                <a:alpha val="14000"/>
              </a:srgbClr>
            </a:outerShdw>
          </a:effectLst>
        </p:spPr>
      </p:sp>
      <p:sp>
        <p:nvSpPr>
          <p:cNvPr id="5" name="Text 3"/>
          <p:cNvSpPr/>
          <p:nvPr/>
        </p:nvSpPr>
        <p:spPr>
          <a:xfrm>
            <a:off x="777240" y="1463040"/>
            <a:ext cx="7635240" cy="731520"/>
          </a:xfrm>
          <a:prstGeom prst="rect">
            <a:avLst/>
          </a:prstGeom>
          <a:noFill/>
          <a:ln/>
        </p:spPr>
        <p:txBody>
          <a:bodyPr wrap="square" rtlCol="0" anchor="ctr"/>
          <a:lstStyle/>
          <a:p>
            <a:pPr algn="ctr" indent="0" marL="0">
              <a:buNone/>
            </a:pPr>
            <a:r>
              <a:rPr lang="en-US" sz="1900" b="1" dirty="0">
                <a:solidFill>
                  <a:srgbClr val="1E2761"/>
                </a:solidFill>
                <a:latin typeface="Courier New" pitchFamily="34" charset="0"/>
                <a:ea typeface="Courier New" pitchFamily="34" charset="-122"/>
                <a:cs typeface="Courier New" pitchFamily="34" charset="-120"/>
              </a:rPr>
              <a:t>R ← R · (1 + (α·(C − y) − β·q/d) / C)</a:t>
            </a:r>
            <a:endParaRPr lang="en-US" sz="1900" dirty="0"/>
          </a:p>
        </p:txBody>
      </p:sp>
      <p:sp>
        <p:nvSpPr>
          <p:cNvPr id="6" name="Shape 4"/>
          <p:cNvSpPr/>
          <p:nvPr/>
        </p:nvSpPr>
        <p:spPr>
          <a:xfrm>
            <a:off x="548640" y="2606040"/>
            <a:ext cx="2560320" cy="1234440"/>
          </a:xfrm>
          <a:prstGeom prst="roundRect">
            <a:avLst>
              <a:gd name="adj" fmla="val 6667"/>
            </a:avLst>
          </a:prstGeom>
          <a:solidFill>
            <a:srgbClr val="E9F0F8"/>
          </a:solidFill>
          <a:ln/>
          <a:effectLst>
            <a:outerShdw sx="100000" sy="100000" kx="0" ky="0" algn="bl" rotWithShape="0" blurRad="88900" dist="25400" dir="2700000">
              <a:srgbClr val="000000">
                <a:alpha val="14000"/>
              </a:srgbClr>
            </a:outerShdw>
          </a:effectLst>
        </p:spPr>
      </p:sp>
      <p:sp>
        <p:nvSpPr>
          <p:cNvPr id="7" name="Text 5"/>
          <p:cNvSpPr/>
          <p:nvPr/>
        </p:nvSpPr>
        <p:spPr>
          <a:xfrm>
            <a:off x="749808" y="2770632"/>
            <a:ext cx="2194560" cy="960120"/>
          </a:xfrm>
          <a:prstGeom prst="rect">
            <a:avLst/>
          </a:prstGeom>
          <a:noFill/>
          <a:ln/>
        </p:spPr>
        <p:txBody>
          <a:bodyPr wrap="square" lIns="0" tIns="0" rIns="0" bIns="0" rtlCol="0" anchor="t"/>
          <a:lstStyle/>
          <a:p>
            <a:pPr indent="0" marL="0">
              <a:spcAft>
                <a:spcPts val="400"/>
              </a:spcAft>
              <a:buNone/>
            </a:pPr>
            <a:r>
              <a:rPr lang="en-US" sz="1500" b="1" dirty="0">
                <a:solidFill>
                  <a:srgbClr val="4F81BD"/>
                </a:solidFill>
                <a:latin typeface="Courier New" pitchFamily="34" charset="0"/>
                <a:ea typeface="Courier New" pitchFamily="34" charset="-122"/>
                <a:cs typeface="Courier New" pitchFamily="34" charset="-120"/>
              </a:rPr>
              <a:t>α·(C − y)</a:t>
            </a:r>
            <a:endParaRPr lang="en-US" sz="1500" dirty="0"/>
          </a:p>
          <a:p>
            <a:pPr indent="0" marL="0">
              <a:buNone/>
            </a:pPr>
            <a:r>
              <a:rPr lang="en-US" sz="1150" dirty="0">
                <a:solidFill>
                  <a:srgbClr val="1F2733"/>
                </a:solidFill>
                <a:latin typeface="Calibri" pitchFamily="34" charset="0"/>
                <a:ea typeface="Calibri" pitchFamily="34" charset="-122"/>
                <a:cs typeface="Calibri" pitchFamily="34" charset="-120"/>
              </a:rPr>
              <a:t>chases spare capacity — link under-full ⇒ R rises</a:t>
            </a:r>
            <a:endParaRPr lang="en-US" sz="1500" dirty="0"/>
          </a:p>
        </p:txBody>
      </p:sp>
      <p:sp>
        <p:nvSpPr>
          <p:cNvPr id="8" name="Shape 6"/>
          <p:cNvSpPr/>
          <p:nvPr/>
        </p:nvSpPr>
        <p:spPr>
          <a:xfrm>
            <a:off x="3337560" y="2606040"/>
            <a:ext cx="2560320" cy="1234440"/>
          </a:xfrm>
          <a:prstGeom prst="roundRect">
            <a:avLst>
              <a:gd name="adj" fmla="val 6667"/>
            </a:avLst>
          </a:prstGeom>
          <a:solidFill>
            <a:srgbClr val="F7E9E8"/>
          </a:solidFill>
          <a:ln/>
          <a:effectLst>
            <a:outerShdw sx="100000" sy="100000" kx="0" ky="0" algn="bl" rotWithShape="0" blurRad="88900" dist="25400" dir="2700000">
              <a:srgbClr val="000000">
                <a:alpha val="14000"/>
              </a:srgbClr>
            </a:outerShdw>
          </a:effectLst>
        </p:spPr>
      </p:sp>
      <p:sp>
        <p:nvSpPr>
          <p:cNvPr id="9" name="Text 7"/>
          <p:cNvSpPr/>
          <p:nvPr/>
        </p:nvSpPr>
        <p:spPr>
          <a:xfrm>
            <a:off x="3538728" y="2770632"/>
            <a:ext cx="2194560" cy="960120"/>
          </a:xfrm>
          <a:prstGeom prst="rect">
            <a:avLst/>
          </a:prstGeom>
          <a:noFill/>
          <a:ln/>
        </p:spPr>
        <p:txBody>
          <a:bodyPr wrap="square" lIns="0" tIns="0" rIns="0" bIns="0" rtlCol="0" anchor="t"/>
          <a:lstStyle/>
          <a:p>
            <a:pPr indent="0" marL="0">
              <a:spcAft>
                <a:spcPts val="400"/>
              </a:spcAft>
              <a:buNone/>
            </a:pPr>
            <a:r>
              <a:rPr lang="en-US" sz="1500" b="1" dirty="0">
                <a:solidFill>
                  <a:srgbClr val="C0504D"/>
                </a:solidFill>
                <a:latin typeface="Courier New" pitchFamily="34" charset="0"/>
                <a:ea typeface="Courier New" pitchFamily="34" charset="-122"/>
                <a:cs typeface="Courier New" pitchFamily="34" charset="-120"/>
              </a:rPr>
              <a:t>β·q/d</a:t>
            </a:r>
            <a:endParaRPr lang="en-US" sz="1500" dirty="0"/>
          </a:p>
          <a:p>
            <a:pPr indent="0" marL="0">
              <a:buNone/>
            </a:pPr>
            <a:r>
              <a:rPr lang="en-US" sz="1150" dirty="0">
                <a:solidFill>
                  <a:srgbClr val="1F2733"/>
                </a:solidFill>
                <a:latin typeface="Calibri" pitchFamily="34" charset="0"/>
                <a:ea typeface="Calibri" pitchFamily="34" charset="-122"/>
                <a:cs typeface="Calibri" pitchFamily="34" charset="-120"/>
              </a:rPr>
              <a:t>brakes on backlog — queue forms ⇒ R falls</a:t>
            </a:r>
            <a:endParaRPr lang="en-US" sz="1500" dirty="0"/>
          </a:p>
        </p:txBody>
      </p:sp>
      <p:sp>
        <p:nvSpPr>
          <p:cNvPr id="10" name="Shape 8"/>
          <p:cNvSpPr/>
          <p:nvPr/>
        </p:nvSpPr>
        <p:spPr>
          <a:xfrm>
            <a:off x="6126480" y="2606040"/>
            <a:ext cx="2560320" cy="1234440"/>
          </a:xfrm>
          <a:prstGeom prst="roundRect">
            <a:avLst>
              <a:gd name="adj" fmla="val 6667"/>
            </a:avLst>
          </a:prstGeom>
          <a:solidFill>
            <a:srgbClr val="E9F4EC"/>
          </a:solidFill>
          <a:ln/>
          <a:effectLst>
            <a:outerShdw sx="100000" sy="100000" kx="0" ky="0" algn="bl" rotWithShape="0" blurRad="88900" dist="25400" dir="2700000">
              <a:srgbClr val="000000">
                <a:alpha val="14000"/>
              </a:srgbClr>
            </a:outerShdw>
          </a:effectLst>
        </p:spPr>
      </p:sp>
      <p:sp>
        <p:nvSpPr>
          <p:cNvPr id="11" name="Text 9"/>
          <p:cNvSpPr/>
          <p:nvPr/>
        </p:nvSpPr>
        <p:spPr>
          <a:xfrm>
            <a:off x="6327648" y="2770632"/>
            <a:ext cx="2194560" cy="960120"/>
          </a:xfrm>
          <a:prstGeom prst="rect">
            <a:avLst/>
          </a:prstGeom>
          <a:noFill/>
          <a:ln/>
        </p:spPr>
        <p:txBody>
          <a:bodyPr wrap="square" lIns="0" tIns="0" rIns="0" bIns="0" rtlCol="0" anchor="t"/>
          <a:lstStyle/>
          <a:p>
            <a:pPr indent="0" marL="0">
              <a:spcAft>
                <a:spcPts val="400"/>
              </a:spcAft>
              <a:buNone/>
            </a:pPr>
            <a:r>
              <a:rPr lang="en-US" sz="1500" b="1" dirty="0">
                <a:solidFill>
                  <a:srgbClr val="1A7F37"/>
                </a:solidFill>
                <a:latin typeface="Courier New" pitchFamily="34" charset="0"/>
                <a:ea typeface="Courier New" pitchFamily="34" charset="-122"/>
                <a:cs typeface="Courier New" pitchFamily="34" charset="-120"/>
              </a:rPr>
              <a:t>fixed point</a:t>
            </a:r>
            <a:endParaRPr lang="en-US" sz="1500" dirty="0"/>
          </a:p>
          <a:p>
            <a:pPr indent="0" marL="0">
              <a:buNone/>
            </a:pPr>
            <a:r>
              <a:rPr lang="en-US" sz="1150" dirty="0">
                <a:solidFill>
                  <a:srgbClr val="1F2733"/>
                </a:solidFill>
                <a:latin typeface="Calibri" pitchFamily="34" charset="0"/>
                <a:ea typeface="Calibri" pitchFamily="34" charset="-122"/>
                <a:cs typeface="Calibri" pitchFamily="34" charset="-120"/>
              </a:rPr>
              <a:t>y = C, q = 0  ⇒  N·R = C  ⇒  R = C/N</a:t>
            </a:r>
            <a:endParaRPr lang="en-US" sz="1500" dirty="0"/>
          </a:p>
        </p:txBody>
      </p:sp>
      <p:sp>
        <p:nvSpPr>
          <p:cNvPr id="12" name="Text 10"/>
          <p:cNvSpPr/>
          <p:nvPr/>
        </p:nvSpPr>
        <p:spPr>
          <a:xfrm>
            <a:off x="548640" y="4114800"/>
            <a:ext cx="8092440" cy="594360"/>
          </a:xfrm>
          <a:prstGeom prst="rect">
            <a:avLst/>
          </a:prstGeom>
          <a:noFill/>
          <a:ln/>
        </p:spPr>
        <p:txBody>
          <a:bodyPr wrap="square" rtlCol="0" anchor="ctr"/>
          <a:lstStyle/>
          <a:p>
            <a:pPr algn="ctr" indent="0" marL="0">
              <a:buNone/>
            </a:pPr>
            <a:r>
              <a:rPr lang="en-US" sz="1500" b="1" dirty="0">
                <a:solidFill>
                  <a:srgbClr val="1F2733"/>
                </a:solidFill>
                <a:latin typeface="Calibri" pitchFamily="34" charset="0"/>
                <a:ea typeface="Calibri" pitchFamily="34" charset="-122"/>
                <a:cs typeface="Calibri" pitchFamily="34" charset="-120"/>
              </a:rPr>
              <a:t>The link converges to the max-min share </a:t>
            </a:r>
            <a:pPr algn="ctr" indent="0" marL="0">
              <a:buNone/>
            </a:pPr>
            <a:r>
              <a:rPr lang="en-US" sz="1500" b="1" i="1" dirty="0">
                <a:solidFill>
                  <a:srgbClr val="4F81BD"/>
                </a:solidFill>
                <a:latin typeface="Calibri" pitchFamily="34" charset="0"/>
                <a:ea typeface="Calibri" pitchFamily="34" charset="-122"/>
                <a:cs typeface="Calibri" pitchFamily="34" charset="-120"/>
              </a:rPr>
              <a:t>without ever counting flows</a:t>
            </a:r>
            <a:pPr algn="ctr" indent="0" marL="0">
              <a:buNone/>
            </a:pPr>
            <a:r>
              <a:rPr lang="en-US" sz="1500" b="1" dirty="0">
                <a:solidFill>
                  <a:srgbClr val="1F2733"/>
                </a:solidFill>
                <a:latin typeface="Calibri" pitchFamily="34" charset="0"/>
                <a:ea typeface="Calibri" pitchFamily="34" charset="-122"/>
                <a:cs typeface="Calibri" pitchFamily="34" charset="-120"/>
              </a:rPr>
              <a:t> — N is implicit in the observed load y.</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138160" cy="274320"/>
          </a:xfrm>
          <a:prstGeom prst="rect">
            <a:avLst/>
          </a:prstGeom>
          <a:noFill/>
          <a:ln/>
        </p:spPr>
        <p:txBody>
          <a:bodyPr wrap="square" lIns="0" tIns="0" rIns="0" bIns="0" rtlCol="0" anchor="ctr"/>
          <a:lstStyle/>
          <a:p>
            <a:pPr indent="0" marL="0">
              <a:buNone/>
            </a:pPr>
            <a:r>
              <a:rPr lang="en-US" sz="1100" b="1" spc="300" kern="0" dirty="0">
                <a:solidFill>
                  <a:srgbClr val="5B6675"/>
                </a:solidFill>
                <a:latin typeface="Calibri" pitchFamily="34" charset="0"/>
                <a:ea typeface="Calibri" pitchFamily="34" charset="-122"/>
                <a:cs typeface="Calibri" pitchFamily="34" charset="-120"/>
              </a:rPr>
              <a:t>THE ALTERNATIVE, PART 2</a:t>
            </a:r>
            <a:endParaRPr lang="en-US" sz="1100" dirty="0"/>
          </a:p>
        </p:txBody>
      </p:sp>
      <p:sp>
        <p:nvSpPr>
          <p:cNvPr id="3" name="Text 1"/>
          <p:cNvSpPr/>
          <p:nvPr/>
        </p:nvSpPr>
        <p:spPr>
          <a:xfrm>
            <a:off x="502920" y="502920"/>
            <a:ext cx="8138160" cy="566928"/>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Worked example: path-min gives network-wide max-min</a:t>
            </a:r>
            <a:endParaRPr lang="en-US" sz="2700" dirty="0"/>
          </a:p>
        </p:txBody>
      </p:sp>
      <p:sp>
        <p:nvSpPr>
          <p:cNvPr id="4" name="Shape 2"/>
          <p:cNvSpPr/>
          <p:nvPr/>
        </p:nvSpPr>
        <p:spPr>
          <a:xfrm>
            <a:off x="685800" y="1929384"/>
            <a:ext cx="1234440" cy="0"/>
          </a:xfrm>
          <a:prstGeom prst="line">
            <a:avLst/>
          </a:prstGeom>
          <a:noFill/>
          <a:ln w="44450">
            <a:solidFill>
              <a:srgbClr val="4F81BD"/>
            </a:solidFill>
            <a:prstDash val="solid"/>
            <a:tailEnd type="triangle"/>
          </a:ln>
        </p:spPr>
      </p:sp>
      <p:sp>
        <p:nvSpPr>
          <p:cNvPr id="5" name="Shape 3"/>
          <p:cNvSpPr/>
          <p:nvPr/>
        </p:nvSpPr>
        <p:spPr>
          <a:xfrm>
            <a:off x="1920240" y="1600200"/>
            <a:ext cx="914400" cy="658368"/>
          </a:xfrm>
          <a:prstGeom prst="roundRect">
            <a:avLst>
              <a:gd name="adj" fmla="val 11111"/>
            </a:avLst>
          </a:prstGeom>
          <a:solidFill>
            <a:srgbClr val="1E2761"/>
          </a:solidFill>
          <a:ln/>
          <a:effectLst>
            <a:outerShdw sx="100000" sy="100000" kx="0" ky="0" algn="bl" rotWithShape="0" blurRad="88900" dist="25400" dir="2700000">
              <a:srgbClr val="000000">
                <a:alpha val="14000"/>
              </a:srgbClr>
            </a:outerShdw>
          </a:effectLst>
        </p:spPr>
      </p:sp>
      <p:sp>
        <p:nvSpPr>
          <p:cNvPr id="6" name="Text 4"/>
          <p:cNvSpPr/>
          <p:nvPr/>
        </p:nvSpPr>
        <p:spPr>
          <a:xfrm>
            <a:off x="1920240" y="1600200"/>
            <a:ext cx="914400" cy="65836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S1</a:t>
            </a:r>
            <a:endParaRPr lang="en-US" sz="1500" dirty="0"/>
          </a:p>
        </p:txBody>
      </p:sp>
      <p:sp>
        <p:nvSpPr>
          <p:cNvPr id="7" name="Shape 5"/>
          <p:cNvSpPr/>
          <p:nvPr/>
        </p:nvSpPr>
        <p:spPr>
          <a:xfrm>
            <a:off x="2834640" y="1929384"/>
            <a:ext cx="1737360" cy="0"/>
          </a:xfrm>
          <a:prstGeom prst="line">
            <a:avLst/>
          </a:prstGeom>
          <a:noFill/>
          <a:ln w="63500">
            <a:solidFill>
              <a:srgbClr val="C0504D"/>
            </a:solidFill>
            <a:prstDash val="solid"/>
          </a:ln>
        </p:spPr>
      </p:sp>
      <p:sp>
        <p:nvSpPr>
          <p:cNvPr id="8" name="Shape 6"/>
          <p:cNvSpPr/>
          <p:nvPr/>
        </p:nvSpPr>
        <p:spPr>
          <a:xfrm>
            <a:off x="4572000" y="1600200"/>
            <a:ext cx="914400" cy="658368"/>
          </a:xfrm>
          <a:prstGeom prst="roundRect">
            <a:avLst>
              <a:gd name="adj" fmla="val 11111"/>
            </a:avLst>
          </a:prstGeom>
          <a:solidFill>
            <a:srgbClr val="1E2761"/>
          </a:solidFill>
          <a:ln/>
          <a:effectLst>
            <a:outerShdw sx="100000" sy="100000" kx="0" ky="0" algn="bl" rotWithShape="0" blurRad="88900" dist="25400" dir="2700000">
              <a:srgbClr val="000000">
                <a:alpha val="14000"/>
              </a:srgbClr>
            </a:outerShdw>
          </a:effectLst>
        </p:spPr>
      </p:sp>
      <p:sp>
        <p:nvSpPr>
          <p:cNvPr id="9" name="Text 7"/>
          <p:cNvSpPr/>
          <p:nvPr/>
        </p:nvSpPr>
        <p:spPr>
          <a:xfrm>
            <a:off x="4572000" y="1600200"/>
            <a:ext cx="914400" cy="65836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S2</a:t>
            </a:r>
            <a:endParaRPr lang="en-US" sz="1500" dirty="0"/>
          </a:p>
        </p:txBody>
      </p:sp>
      <p:sp>
        <p:nvSpPr>
          <p:cNvPr id="10" name="Shape 8"/>
          <p:cNvSpPr/>
          <p:nvPr/>
        </p:nvSpPr>
        <p:spPr>
          <a:xfrm>
            <a:off x="5486400" y="1929384"/>
            <a:ext cx="1737360" cy="0"/>
          </a:xfrm>
          <a:prstGeom prst="line">
            <a:avLst/>
          </a:prstGeom>
          <a:noFill/>
          <a:ln w="63500">
            <a:solidFill>
              <a:srgbClr val="C0504D"/>
            </a:solidFill>
            <a:prstDash val="solid"/>
          </a:ln>
        </p:spPr>
      </p:sp>
      <p:sp>
        <p:nvSpPr>
          <p:cNvPr id="11" name="Shape 9"/>
          <p:cNvSpPr/>
          <p:nvPr/>
        </p:nvSpPr>
        <p:spPr>
          <a:xfrm>
            <a:off x="7223760" y="1783080"/>
            <a:ext cx="310896" cy="310896"/>
          </a:xfrm>
          <a:prstGeom prst="ellipse">
            <a:avLst/>
          </a:prstGeom>
          <a:solidFill>
            <a:srgbClr val="4F81BD"/>
          </a:solidFill>
          <a:ln/>
        </p:spPr>
      </p:sp>
      <p:sp>
        <p:nvSpPr>
          <p:cNvPr id="12" name="Text 10"/>
          <p:cNvSpPr/>
          <p:nvPr/>
        </p:nvSpPr>
        <p:spPr>
          <a:xfrm>
            <a:off x="7571232" y="1764792"/>
            <a:ext cx="822960" cy="365760"/>
          </a:xfrm>
          <a:prstGeom prst="rect">
            <a:avLst/>
          </a:prstGeom>
          <a:noFill/>
          <a:ln/>
        </p:spPr>
        <p:txBody>
          <a:bodyPr wrap="square" lIns="0" tIns="0" rIns="0" bIns="0" rtlCol="0" anchor="ctr"/>
          <a:lstStyle/>
          <a:p>
            <a:pPr indent="0" marL="0">
              <a:buNone/>
            </a:pPr>
            <a:r>
              <a:rPr lang="en-US" sz="1100" dirty="0">
                <a:solidFill>
                  <a:srgbClr val="5B6675"/>
                </a:solidFill>
                <a:latin typeface="Calibri" pitchFamily="34" charset="0"/>
                <a:ea typeface="Calibri" pitchFamily="34" charset="-122"/>
                <a:cs typeface="Calibri" pitchFamily="34" charset="-120"/>
              </a:rPr>
              <a:t>ℓ dst</a:t>
            </a:r>
            <a:endParaRPr lang="en-US" sz="1100" dirty="0"/>
          </a:p>
        </p:txBody>
      </p:sp>
      <p:sp>
        <p:nvSpPr>
          <p:cNvPr id="13" name="Text 11"/>
          <p:cNvSpPr/>
          <p:nvPr/>
        </p:nvSpPr>
        <p:spPr>
          <a:xfrm>
            <a:off x="548640" y="1216152"/>
            <a:ext cx="1463040" cy="274320"/>
          </a:xfrm>
          <a:prstGeom prst="rect">
            <a:avLst/>
          </a:prstGeom>
          <a:noFill/>
          <a:ln/>
        </p:spPr>
        <p:txBody>
          <a:bodyPr wrap="square" lIns="0" tIns="0" rIns="0" bIns="0" rtlCol="0" anchor="ctr"/>
          <a:lstStyle/>
          <a:p>
            <a:pPr indent="0" marL="0">
              <a:buNone/>
            </a:pPr>
            <a:r>
              <a:rPr lang="en-US" sz="1150" b="1" dirty="0">
                <a:solidFill>
                  <a:srgbClr val="4F81BD"/>
                </a:solidFill>
                <a:latin typeface="Calibri" pitchFamily="34" charset="0"/>
                <a:ea typeface="Calibri" pitchFamily="34" charset="-122"/>
                <a:cs typeface="Calibri" pitchFamily="34" charset="-120"/>
              </a:rPr>
              <a:t>long flow ℓ</a:t>
            </a:r>
            <a:endParaRPr lang="en-US" sz="1150" dirty="0"/>
          </a:p>
        </p:txBody>
      </p:sp>
      <p:sp>
        <p:nvSpPr>
          <p:cNvPr id="14" name="Text 12"/>
          <p:cNvSpPr/>
          <p:nvPr/>
        </p:nvSpPr>
        <p:spPr>
          <a:xfrm>
            <a:off x="2514600" y="2167128"/>
            <a:ext cx="2377440" cy="685800"/>
          </a:xfrm>
          <a:prstGeom prst="rect">
            <a:avLst/>
          </a:prstGeom>
          <a:noFill/>
          <a:ln/>
        </p:spPr>
        <p:txBody>
          <a:bodyPr wrap="square" lIns="0" tIns="0" rIns="0" bIns="0" rtlCol="0" anchor="ctr"/>
          <a:lstStyle/>
          <a:p>
            <a:pPr indent="0" marL="0">
              <a:buNone/>
            </a:pPr>
            <a:r>
              <a:rPr lang="en-US" sz="1200" b="1" dirty="0">
                <a:solidFill>
                  <a:srgbClr val="C0504D"/>
                </a:solidFill>
                <a:latin typeface="Calibri" pitchFamily="34" charset="0"/>
                <a:ea typeface="Calibri" pitchFamily="34" charset="-122"/>
                <a:cs typeface="Calibri" pitchFamily="34" charset="-120"/>
              </a:rPr>
              <a:t>L1 (100G): ℓ, a, b → 3 flows</a:t>
            </a:r>
            <a:endParaRPr lang="en-US" sz="1200" dirty="0"/>
          </a:p>
          <a:p>
            <a:pPr indent="0" marL="0">
              <a:buNone/>
            </a:pPr>
            <a:r>
              <a:rPr lang="en-US" sz="1200" dirty="0">
                <a:solidFill>
                  <a:srgbClr val="1F2733"/>
                </a:solidFill>
                <a:latin typeface="Calibri" pitchFamily="34" charset="0"/>
                <a:ea typeface="Calibri" pitchFamily="34" charset="-122"/>
                <a:cs typeface="Calibri" pitchFamily="34" charset="-120"/>
              </a:rPr>
              <a:t>R₁ settles at C/3 = 33.3 G</a:t>
            </a:r>
            <a:endParaRPr lang="en-US" sz="1200" dirty="0"/>
          </a:p>
        </p:txBody>
      </p:sp>
      <p:sp>
        <p:nvSpPr>
          <p:cNvPr id="15" name="Text 13"/>
          <p:cNvSpPr/>
          <p:nvPr/>
        </p:nvSpPr>
        <p:spPr>
          <a:xfrm>
            <a:off x="5257800" y="2167128"/>
            <a:ext cx="2377440" cy="685800"/>
          </a:xfrm>
          <a:prstGeom prst="rect">
            <a:avLst/>
          </a:prstGeom>
          <a:noFill/>
          <a:ln/>
        </p:spPr>
        <p:txBody>
          <a:bodyPr wrap="square" lIns="0" tIns="0" rIns="0" bIns="0" rtlCol="0" anchor="ctr"/>
          <a:lstStyle/>
          <a:p>
            <a:pPr indent="0" marL="0">
              <a:buNone/>
            </a:pPr>
            <a:r>
              <a:rPr lang="en-US" sz="1200" b="1" dirty="0">
                <a:solidFill>
                  <a:srgbClr val="C0504D"/>
                </a:solidFill>
                <a:latin typeface="Calibri" pitchFamily="34" charset="0"/>
                <a:ea typeface="Calibri" pitchFamily="34" charset="-122"/>
                <a:cs typeface="Calibri" pitchFamily="34" charset="-120"/>
              </a:rPr>
              <a:t>L2 (100G): ℓ (capped 33.3) + c</a:t>
            </a:r>
            <a:endParaRPr lang="en-US" sz="1200" dirty="0"/>
          </a:p>
          <a:p>
            <a:pPr indent="0" marL="0">
              <a:buNone/>
            </a:pPr>
            <a:r>
              <a:rPr lang="en-US" sz="1200" dirty="0">
                <a:solidFill>
                  <a:srgbClr val="1F2733"/>
                </a:solidFill>
                <a:latin typeface="Calibri" pitchFamily="34" charset="0"/>
                <a:ea typeface="Calibri" pitchFamily="34" charset="-122"/>
                <a:cs typeface="Calibri" pitchFamily="34" charset="-120"/>
              </a:rPr>
              <a:t>R₂ rises until full: 66.7 G</a:t>
            </a:r>
            <a:endParaRPr lang="en-US" sz="1200" dirty="0"/>
          </a:p>
        </p:txBody>
      </p:sp>
      <p:sp>
        <p:nvSpPr>
          <p:cNvPr id="16" name="Shape 14"/>
          <p:cNvSpPr/>
          <p:nvPr/>
        </p:nvSpPr>
        <p:spPr>
          <a:xfrm>
            <a:off x="2103120" y="3063240"/>
            <a:ext cx="274320" cy="-777240"/>
          </a:xfrm>
          <a:prstGeom prst="line">
            <a:avLst/>
          </a:prstGeom>
          <a:noFill/>
          <a:ln w="25400">
            <a:solidFill>
              <a:srgbClr val="8A98AC"/>
            </a:solidFill>
            <a:prstDash val="solid"/>
            <a:tailEnd type="triangle"/>
          </a:ln>
        </p:spPr>
      </p:sp>
      <p:sp>
        <p:nvSpPr>
          <p:cNvPr id="17" name="Text 15"/>
          <p:cNvSpPr/>
          <p:nvPr/>
        </p:nvSpPr>
        <p:spPr>
          <a:xfrm>
            <a:off x="1847088" y="3081528"/>
            <a:ext cx="822960" cy="274320"/>
          </a:xfrm>
          <a:prstGeom prst="rect">
            <a:avLst/>
          </a:prstGeom>
          <a:noFill/>
          <a:ln/>
        </p:spPr>
        <p:txBody>
          <a:bodyPr wrap="square" lIns="0" tIns="0" rIns="0" bIns="0" rtlCol="0" anchor="ctr"/>
          <a:lstStyle/>
          <a:p>
            <a:pPr indent="0" marL="0">
              <a:buNone/>
            </a:pPr>
            <a:r>
              <a:rPr lang="en-US" sz="1150" dirty="0">
                <a:solidFill>
                  <a:srgbClr val="5B6675"/>
                </a:solidFill>
                <a:latin typeface="Calibri" pitchFamily="34" charset="0"/>
                <a:ea typeface="Calibri" pitchFamily="34" charset="-122"/>
                <a:cs typeface="Calibri" pitchFamily="34" charset="-120"/>
              </a:rPr>
              <a:t>a, b</a:t>
            </a:r>
            <a:endParaRPr lang="en-US" sz="1150" dirty="0"/>
          </a:p>
        </p:txBody>
      </p:sp>
      <p:sp>
        <p:nvSpPr>
          <p:cNvPr id="18" name="Shape 16"/>
          <p:cNvSpPr/>
          <p:nvPr/>
        </p:nvSpPr>
        <p:spPr>
          <a:xfrm>
            <a:off x="4754880" y="3063240"/>
            <a:ext cx="274320" cy="-777240"/>
          </a:xfrm>
          <a:prstGeom prst="line">
            <a:avLst/>
          </a:prstGeom>
          <a:noFill/>
          <a:ln w="25400">
            <a:solidFill>
              <a:srgbClr val="8A98AC"/>
            </a:solidFill>
            <a:prstDash val="solid"/>
            <a:tailEnd type="triangle"/>
          </a:ln>
        </p:spPr>
      </p:sp>
      <p:sp>
        <p:nvSpPr>
          <p:cNvPr id="19" name="Text 17"/>
          <p:cNvSpPr/>
          <p:nvPr/>
        </p:nvSpPr>
        <p:spPr>
          <a:xfrm>
            <a:off x="4526280" y="3081528"/>
            <a:ext cx="457200" cy="274320"/>
          </a:xfrm>
          <a:prstGeom prst="rect">
            <a:avLst/>
          </a:prstGeom>
          <a:noFill/>
          <a:ln/>
        </p:spPr>
        <p:txBody>
          <a:bodyPr wrap="square" lIns="0" tIns="0" rIns="0" bIns="0" rtlCol="0" anchor="ctr"/>
          <a:lstStyle/>
          <a:p>
            <a:pPr indent="0" marL="0">
              <a:buNone/>
            </a:pPr>
            <a:r>
              <a:rPr lang="en-US" sz="1150" dirty="0">
                <a:solidFill>
                  <a:srgbClr val="5B6675"/>
                </a:solidFill>
                <a:latin typeface="Calibri" pitchFamily="34" charset="0"/>
                <a:ea typeface="Calibri" pitchFamily="34" charset="-122"/>
                <a:cs typeface="Calibri" pitchFamily="34" charset="-120"/>
              </a:rPr>
              <a:t>c</a:t>
            </a:r>
            <a:endParaRPr lang="en-US" sz="1150" dirty="0"/>
          </a:p>
        </p:txBody>
      </p:sp>
      <p:sp>
        <p:nvSpPr>
          <p:cNvPr id="20" name="Shape 18"/>
          <p:cNvSpPr/>
          <p:nvPr/>
        </p:nvSpPr>
        <p:spPr>
          <a:xfrm>
            <a:off x="548640" y="3520440"/>
            <a:ext cx="5074920" cy="658368"/>
          </a:xfrm>
          <a:prstGeom prst="roundRect">
            <a:avLst>
              <a:gd name="adj" fmla="val 11111"/>
            </a:avLst>
          </a:prstGeom>
          <a:solidFill>
            <a:srgbClr val="E9F0F8"/>
          </a:solidFill>
          <a:ln/>
        </p:spPr>
      </p:sp>
      <p:sp>
        <p:nvSpPr>
          <p:cNvPr id="21" name="Text 19"/>
          <p:cNvSpPr/>
          <p:nvPr/>
        </p:nvSpPr>
        <p:spPr>
          <a:xfrm>
            <a:off x="731520" y="3520440"/>
            <a:ext cx="4800600" cy="658368"/>
          </a:xfrm>
          <a:prstGeom prst="rect">
            <a:avLst/>
          </a:prstGeom>
          <a:noFill/>
          <a:ln/>
        </p:spPr>
        <p:txBody>
          <a:bodyPr wrap="square" lIns="0" tIns="0" rIns="0" bIns="0" rtlCol="0" anchor="ctr"/>
          <a:lstStyle/>
          <a:p>
            <a:pPr indent="0" marL="0">
              <a:buNone/>
            </a:pPr>
            <a:r>
              <a:rPr lang="en-US" sz="1200" dirty="0">
                <a:solidFill>
                  <a:srgbClr val="5B6675"/>
                </a:solidFill>
                <a:latin typeface="Courier New" pitchFamily="34" charset="0"/>
                <a:ea typeface="Courier New" pitchFamily="34" charset="-122"/>
                <a:cs typeface="Courier New" pitchFamily="34" charset="-120"/>
              </a:rPr>
              <a:t>ℓ pkt: fairRate 0 </a:t>
            </a:r>
            <a:pPr indent="0" marL="0">
              <a:buNone/>
            </a:pPr>
            <a:r>
              <a:rPr lang="en-US" sz="1200" b="1" dirty="0">
                <a:solidFill>
                  <a:srgbClr val="1E2761"/>
                </a:solidFill>
                <a:latin typeface="Courier New" pitchFamily="34" charset="0"/>
                <a:ea typeface="Courier New" pitchFamily="34" charset="-122"/>
                <a:cs typeface="Courier New" pitchFamily="34" charset="-120"/>
              </a:rPr>
              <a:t>→ 33.3 </a:t>
            </a:r>
            <a:pPr indent="0" marL="0">
              <a:buNone/>
            </a:pPr>
            <a:r>
              <a:rPr lang="en-US" sz="1200" dirty="0">
                <a:solidFill>
                  <a:srgbClr val="5B6675"/>
                </a:solidFill>
                <a:latin typeface="Courier New" pitchFamily="34" charset="0"/>
                <a:ea typeface="Courier New" pitchFamily="34" charset="-122"/>
                <a:cs typeface="Courier New" pitchFamily="34" charset="-120"/>
              </a:rPr>
              <a:t>→ min(33.3,66.7) = </a:t>
            </a:r>
            <a:pPr indent="0" marL="0">
              <a:buNone/>
            </a:pPr>
            <a:r>
              <a:rPr lang="en-US" sz="1300" b="1" dirty="0">
                <a:solidFill>
                  <a:srgbClr val="4F81BD"/>
                </a:solidFill>
                <a:latin typeface="Courier New" pitchFamily="34" charset="0"/>
                <a:ea typeface="Courier New" pitchFamily="34" charset="-122"/>
                <a:cs typeface="Courier New" pitchFamily="34" charset="-120"/>
              </a:rPr>
              <a:t>33.3</a:t>
            </a:r>
            <a:endParaRPr lang="en-US" sz="1200" dirty="0"/>
          </a:p>
        </p:txBody>
      </p:sp>
      <p:sp>
        <p:nvSpPr>
          <p:cNvPr id="22" name="Shape 20"/>
          <p:cNvSpPr/>
          <p:nvPr/>
        </p:nvSpPr>
        <p:spPr>
          <a:xfrm>
            <a:off x="5806440" y="3566160"/>
            <a:ext cx="1325880" cy="310896"/>
          </a:xfrm>
          <a:prstGeom prst="roundRect">
            <a:avLst>
              <a:gd name="adj" fmla="val 17647"/>
            </a:avLst>
          </a:prstGeom>
          <a:solidFill>
            <a:srgbClr val="4F81BD"/>
          </a:solidFill>
          <a:ln/>
        </p:spPr>
      </p:sp>
      <p:sp>
        <p:nvSpPr>
          <p:cNvPr id="23" name="Text 21"/>
          <p:cNvSpPr/>
          <p:nvPr/>
        </p:nvSpPr>
        <p:spPr>
          <a:xfrm>
            <a:off x="5806440" y="3557016"/>
            <a:ext cx="132588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ℓ = a = b = 33.3</a:t>
            </a:r>
            <a:endParaRPr lang="en-US" sz="1200" dirty="0"/>
          </a:p>
        </p:txBody>
      </p:sp>
      <p:sp>
        <p:nvSpPr>
          <p:cNvPr id="24" name="Shape 22"/>
          <p:cNvSpPr/>
          <p:nvPr/>
        </p:nvSpPr>
        <p:spPr>
          <a:xfrm>
            <a:off x="7223760" y="3566160"/>
            <a:ext cx="1051560" cy="310896"/>
          </a:xfrm>
          <a:prstGeom prst="roundRect">
            <a:avLst>
              <a:gd name="adj" fmla="val 17647"/>
            </a:avLst>
          </a:prstGeom>
          <a:solidFill>
            <a:srgbClr val="1A7F37"/>
          </a:solidFill>
          <a:ln/>
        </p:spPr>
      </p:sp>
      <p:sp>
        <p:nvSpPr>
          <p:cNvPr id="25" name="Text 23"/>
          <p:cNvSpPr/>
          <p:nvPr/>
        </p:nvSpPr>
        <p:spPr>
          <a:xfrm>
            <a:off x="7223760" y="3557016"/>
            <a:ext cx="105156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 = 66.7</a:t>
            </a:r>
            <a:endParaRPr lang="en-US" sz="1200" dirty="0"/>
          </a:p>
        </p:txBody>
      </p:sp>
      <p:sp>
        <p:nvSpPr>
          <p:cNvPr id="26" name="Text 24"/>
          <p:cNvSpPr/>
          <p:nvPr/>
        </p:nvSpPr>
        <p:spPr>
          <a:xfrm>
            <a:off x="548640" y="4434840"/>
            <a:ext cx="8092440" cy="365760"/>
          </a:xfrm>
          <a:prstGeom prst="rect">
            <a:avLst/>
          </a:prstGeom>
          <a:noFill/>
          <a:ln/>
        </p:spPr>
        <p:txBody>
          <a:bodyPr wrap="square" rtlCol="0" anchor="ctr"/>
          <a:lstStyle/>
          <a:p>
            <a:pPr algn="ctr" indent="0" marL="0">
              <a:buNone/>
            </a:pPr>
            <a:r>
              <a:rPr lang="en-US" sz="1350" b="1" dirty="0">
                <a:solidFill>
                  <a:srgbClr val="1F2733"/>
                </a:solidFill>
                <a:latin typeface="Calibri" pitchFamily="34" charset="0"/>
                <a:ea typeface="Calibri" pitchFamily="34" charset="-122"/>
                <a:cs typeface="Calibri" pitchFamily="34" charset="-120"/>
              </a:rPr>
              <a:t>Exactly the max-min allocation — both links 100% full, no per-flow state anywhere.</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138160" cy="274320"/>
          </a:xfrm>
          <a:prstGeom prst="rect">
            <a:avLst/>
          </a:prstGeom>
          <a:noFill/>
          <a:ln/>
        </p:spPr>
        <p:txBody>
          <a:bodyPr wrap="square" lIns="0" tIns="0" rIns="0" bIns="0" rtlCol="0" anchor="ctr"/>
          <a:lstStyle/>
          <a:p>
            <a:pPr indent="0" marL="0">
              <a:buNone/>
            </a:pPr>
            <a:r>
              <a:rPr lang="en-US" sz="1100" b="1" spc="300" kern="0" dirty="0">
                <a:solidFill>
                  <a:srgbClr val="5B6675"/>
                </a:solidFill>
                <a:latin typeface="Calibri" pitchFamily="34" charset="0"/>
                <a:ea typeface="Calibri" pitchFamily="34" charset="-122"/>
                <a:cs typeface="Calibri" pitchFamily="34" charset="-120"/>
              </a:rPr>
              <a:t>RDMA-RCP</a:t>
            </a:r>
            <a:endParaRPr lang="en-US" sz="1100" dirty="0"/>
          </a:p>
        </p:txBody>
      </p:sp>
      <p:sp>
        <p:nvSpPr>
          <p:cNvPr id="3" name="Text 1"/>
          <p:cNvSpPr/>
          <p:nvPr/>
        </p:nvSpPr>
        <p:spPr>
          <a:xfrm>
            <a:off x="502920" y="502920"/>
            <a:ext cx="8138160" cy="566928"/>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The whole mechanism: three small pieces</a:t>
            </a:r>
            <a:endParaRPr lang="en-US" sz="2700" dirty="0"/>
          </a:p>
        </p:txBody>
      </p:sp>
      <p:sp>
        <p:nvSpPr>
          <p:cNvPr id="4" name="Shape 2"/>
          <p:cNvSpPr/>
          <p:nvPr/>
        </p:nvSpPr>
        <p:spPr>
          <a:xfrm>
            <a:off x="548640" y="1371600"/>
            <a:ext cx="2560320" cy="2377440"/>
          </a:xfrm>
          <a:prstGeom prst="roundRect">
            <a:avLst>
              <a:gd name="adj" fmla="val 3462"/>
            </a:avLst>
          </a:prstGeom>
          <a:solidFill>
            <a:srgbClr val="EEF3FB"/>
          </a:solidFill>
          <a:ln/>
          <a:effectLst>
            <a:outerShdw sx="100000" sy="100000" kx="0" ky="0" algn="bl" rotWithShape="0" blurRad="88900" dist="25400" dir="2700000">
              <a:srgbClr val="000000">
                <a:alpha val="14000"/>
              </a:srgbClr>
            </a:outerShdw>
          </a:effectLst>
        </p:spPr>
      </p:sp>
      <p:sp>
        <p:nvSpPr>
          <p:cNvPr id="5" name="Text 3"/>
          <p:cNvSpPr/>
          <p:nvPr/>
        </p:nvSpPr>
        <p:spPr>
          <a:xfrm>
            <a:off x="768096" y="1554480"/>
            <a:ext cx="2103120" cy="347472"/>
          </a:xfrm>
          <a:prstGeom prst="rect">
            <a:avLst/>
          </a:prstGeom>
          <a:noFill/>
          <a:ln/>
        </p:spPr>
        <p:txBody>
          <a:bodyPr wrap="square" lIns="0" tIns="0" rIns="0" bIns="0" rtlCol="0" anchor="ctr"/>
          <a:lstStyle/>
          <a:p>
            <a:pPr indent="0" marL="0">
              <a:buNone/>
            </a:pPr>
            <a:r>
              <a:rPr lang="en-US" sz="1650" b="1" dirty="0">
                <a:solidFill>
                  <a:srgbClr val="1E2761"/>
                </a:solidFill>
                <a:latin typeface="Calibri" pitchFamily="34" charset="0"/>
                <a:ea typeface="Calibri" pitchFamily="34" charset="-122"/>
                <a:cs typeface="Calibri" pitchFamily="34" charset="-120"/>
              </a:rPr>
              <a:t>Switch</a:t>
            </a:r>
            <a:endParaRPr lang="en-US" sz="1650" dirty="0"/>
          </a:p>
        </p:txBody>
      </p:sp>
      <p:sp>
        <p:nvSpPr>
          <p:cNvPr id="6" name="Text 4"/>
          <p:cNvSpPr/>
          <p:nvPr/>
        </p:nvSpPr>
        <p:spPr>
          <a:xfrm>
            <a:off x="768096" y="1956816"/>
            <a:ext cx="2148840" cy="1691640"/>
          </a:xfrm>
          <a:prstGeom prst="rect">
            <a:avLst/>
          </a:prstGeom>
          <a:noFill/>
          <a:ln/>
        </p:spPr>
        <p:txBody>
          <a:bodyPr wrap="square" lIns="0" tIns="0" rIns="0" bIns="0" rtlCol="0" anchor="ctr"/>
          <a:lstStyle/>
          <a:p>
            <a:pPr marL="342900" indent="-342900">
              <a:spcAft>
                <a:spcPts val="700"/>
              </a:spcAft>
              <a:buSzPct val="100000"/>
              <a:buChar char="•"/>
            </a:pPr>
            <a:r>
              <a:rPr lang="en-US" sz="1200" dirty="0">
                <a:solidFill>
                  <a:srgbClr val="1F2733"/>
                </a:solidFill>
                <a:latin typeface="Calibri" pitchFamily="34" charset="0"/>
                <a:ea typeface="Calibri" pitchFamily="34" charset="-122"/>
                <a:cs typeface="Calibri" pitchFamily="34" charset="-120"/>
              </a:rPr>
              <a:t>one scalar fair rate per egress port</a:t>
            </a:r>
            <a:endParaRPr lang="en-US" sz="1200" dirty="0"/>
          </a:p>
          <a:p>
            <a:pPr marL="342900" indent="-342900">
              <a:spcAft>
                <a:spcPts val="700"/>
              </a:spcAft>
              <a:buSzPct val="100000"/>
              <a:buChar char="•"/>
            </a:pPr>
            <a:r>
              <a:rPr lang="en-US" sz="1200" dirty="0">
                <a:solidFill>
                  <a:srgbClr val="1F2733"/>
                </a:solidFill>
                <a:latin typeface="Calibri" pitchFamily="34" charset="0"/>
                <a:ea typeface="Calibri" pitchFamily="34" charset="-122"/>
                <a:cs typeface="Calibri" pitchFamily="34" charset="-120"/>
              </a:rPr>
              <a:t>RCP update once per control interval (≈ RTT)</a:t>
            </a:r>
            <a:endParaRPr lang="en-US" sz="1200" dirty="0"/>
          </a:p>
          <a:p>
            <a:pPr marL="342900" indent="-342900">
              <a:spcAft>
                <a:spcPts val="700"/>
              </a:spcAft>
              <a:buSzPct val="100000"/>
              <a:buChar char="•"/>
            </a:pPr>
            <a:r>
              <a:rPr lang="en-US" sz="1200" dirty="0">
                <a:solidFill>
                  <a:srgbClr val="1F2733"/>
                </a:solidFill>
                <a:latin typeface="Calibri" pitchFamily="34" charset="0"/>
                <a:ea typeface="Calibri" pitchFamily="34" charset="-122"/>
                <a:cs typeface="Calibri" pitchFamily="34" charset="-120"/>
              </a:rPr>
              <a:t>state: 3 numbers — no per-flow data</a:t>
            </a:r>
            <a:endParaRPr lang="en-US" sz="1200" dirty="0"/>
          </a:p>
        </p:txBody>
      </p:sp>
      <p:sp>
        <p:nvSpPr>
          <p:cNvPr id="7" name="Shape 5"/>
          <p:cNvSpPr/>
          <p:nvPr/>
        </p:nvSpPr>
        <p:spPr>
          <a:xfrm>
            <a:off x="3337560" y="1371600"/>
            <a:ext cx="2560320" cy="2377440"/>
          </a:xfrm>
          <a:prstGeom prst="roundRect">
            <a:avLst>
              <a:gd name="adj" fmla="val 3462"/>
            </a:avLst>
          </a:prstGeom>
          <a:solidFill>
            <a:srgbClr val="E9F0F8"/>
          </a:solidFill>
          <a:ln/>
          <a:effectLst>
            <a:outerShdw sx="100000" sy="100000" kx="0" ky="0" algn="bl" rotWithShape="0" blurRad="88900" dist="25400" dir="2700000">
              <a:srgbClr val="000000">
                <a:alpha val="14000"/>
              </a:srgbClr>
            </a:outerShdw>
          </a:effectLst>
        </p:spPr>
      </p:sp>
      <p:sp>
        <p:nvSpPr>
          <p:cNvPr id="8" name="Text 6"/>
          <p:cNvSpPr/>
          <p:nvPr/>
        </p:nvSpPr>
        <p:spPr>
          <a:xfrm>
            <a:off x="3557016" y="1554480"/>
            <a:ext cx="2103120" cy="347472"/>
          </a:xfrm>
          <a:prstGeom prst="rect">
            <a:avLst/>
          </a:prstGeom>
          <a:noFill/>
          <a:ln/>
        </p:spPr>
        <p:txBody>
          <a:bodyPr wrap="square" lIns="0" tIns="0" rIns="0" bIns="0" rtlCol="0" anchor="ctr"/>
          <a:lstStyle/>
          <a:p>
            <a:pPr indent="0" marL="0">
              <a:buNone/>
            </a:pPr>
            <a:r>
              <a:rPr lang="en-US" sz="1650" b="1" dirty="0">
                <a:solidFill>
                  <a:srgbClr val="1E2761"/>
                </a:solidFill>
                <a:latin typeface="Calibri" pitchFamily="34" charset="0"/>
                <a:ea typeface="Calibri" pitchFamily="34" charset="-122"/>
                <a:cs typeface="Calibri" pitchFamily="34" charset="-120"/>
              </a:rPr>
              <a:t>Wire</a:t>
            </a:r>
            <a:endParaRPr lang="en-US" sz="1650" dirty="0"/>
          </a:p>
        </p:txBody>
      </p:sp>
      <p:sp>
        <p:nvSpPr>
          <p:cNvPr id="9" name="Text 7"/>
          <p:cNvSpPr/>
          <p:nvPr/>
        </p:nvSpPr>
        <p:spPr>
          <a:xfrm>
            <a:off x="3557016" y="1956816"/>
            <a:ext cx="2148840" cy="1691640"/>
          </a:xfrm>
          <a:prstGeom prst="rect">
            <a:avLst/>
          </a:prstGeom>
          <a:noFill/>
          <a:ln/>
        </p:spPr>
        <p:txBody>
          <a:bodyPr wrap="square" lIns="0" tIns="0" rIns="0" bIns="0" rtlCol="0" anchor="ctr"/>
          <a:lstStyle/>
          <a:p>
            <a:pPr marL="342900" indent="-342900">
              <a:spcAft>
                <a:spcPts val="700"/>
              </a:spcAft>
              <a:buSzPct val="100000"/>
              <a:buChar char="•"/>
            </a:pPr>
            <a:r>
              <a:rPr lang="en-US" sz="1200" dirty="0">
                <a:solidFill>
                  <a:srgbClr val="1F2733"/>
                </a:solidFill>
                <a:latin typeface="Calibri" pitchFamily="34" charset="0"/>
                <a:ea typeface="Calibri" pitchFamily="34" charset="-122"/>
                <a:cs typeface="Calibri" pitchFamily="34" charset="-120"/>
              </a:rPr>
              <a:t>new INT mode: one 64-bit fairRate field</a:t>
            </a:r>
            <a:endParaRPr lang="en-US" sz="1200" dirty="0"/>
          </a:p>
          <a:p>
            <a:pPr marL="342900" indent="-342900">
              <a:spcAft>
                <a:spcPts val="700"/>
              </a:spcAft>
              <a:buSzPct val="100000"/>
              <a:buChar char="•"/>
            </a:pPr>
            <a:r>
              <a:rPr lang="en-US" sz="1200" dirty="0">
                <a:solidFill>
                  <a:srgbClr val="1F2733"/>
                </a:solidFill>
                <a:latin typeface="Calibri" pitchFamily="34" charset="0"/>
                <a:ea typeface="Calibri" pitchFamily="34" charset="-122"/>
                <a:cs typeface="Calibri" pitchFamily="34" charset="-120"/>
              </a:rPr>
              <a:t>8 B / packet, independent of hop count</a:t>
            </a:r>
            <a:endParaRPr lang="en-US" sz="1200" dirty="0"/>
          </a:p>
          <a:p>
            <a:pPr marL="342900" indent="-342900">
              <a:spcAft>
                <a:spcPts val="700"/>
              </a:spcAft>
              <a:buSzPct val="100000"/>
              <a:buChar char="•"/>
            </a:pPr>
            <a:r>
              <a:rPr lang="en-US" sz="1200" dirty="0">
                <a:solidFill>
                  <a:srgbClr val="1F2733"/>
                </a:solidFill>
                <a:latin typeface="Calibri" pitchFamily="34" charset="0"/>
                <a:ea typeface="Calibri" pitchFamily="34" charset="-122"/>
                <a:cs typeface="Calibri" pitchFamily="34" charset="-120"/>
              </a:rPr>
              <a:t>each hop min-aggregates; receiver echoes</a:t>
            </a:r>
            <a:endParaRPr lang="en-US" sz="1200" dirty="0"/>
          </a:p>
        </p:txBody>
      </p:sp>
      <p:sp>
        <p:nvSpPr>
          <p:cNvPr id="10" name="Shape 8"/>
          <p:cNvSpPr/>
          <p:nvPr/>
        </p:nvSpPr>
        <p:spPr>
          <a:xfrm>
            <a:off x="6126480" y="1371600"/>
            <a:ext cx="2560320" cy="2377440"/>
          </a:xfrm>
          <a:prstGeom prst="roundRect">
            <a:avLst>
              <a:gd name="adj" fmla="val 3462"/>
            </a:avLst>
          </a:prstGeom>
          <a:solidFill>
            <a:srgbClr val="EEF3FB"/>
          </a:solidFill>
          <a:ln/>
          <a:effectLst>
            <a:outerShdw sx="100000" sy="100000" kx="0" ky="0" algn="bl" rotWithShape="0" blurRad="88900" dist="25400" dir="2700000">
              <a:srgbClr val="000000">
                <a:alpha val="14000"/>
              </a:srgbClr>
            </a:outerShdw>
          </a:effectLst>
        </p:spPr>
      </p:sp>
      <p:sp>
        <p:nvSpPr>
          <p:cNvPr id="11" name="Text 9"/>
          <p:cNvSpPr/>
          <p:nvPr/>
        </p:nvSpPr>
        <p:spPr>
          <a:xfrm>
            <a:off x="6345936" y="1554480"/>
            <a:ext cx="2103120" cy="347472"/>
          </a:xfrm>
          <a:prstGeom prst="rect">
            <a:avLst/>
          </a:prstGeom>
          <a:noFill/>
          <a:ln/>
        </p:spPr>
        <p:txBody>
          <a:bodyPr wrap="square" lIns="0" tIns="0" rIns="0" bIns="0" rtlCol="0" anchor="ctr"/>
          <a:lstStyle/>
          <a:p>
            <a:pPr indent="0" marL="0">
              <a:buNone/>
            </a:pPr>
            <a:r>
              <a:rPr lang="en-US" sz="1650" b="1" dirty="0">
                <a:solidFill>
                  <a:srgbClr val="1E2761"/>
                </a:solidFill>
                <a:latin typeface="Calibri" pitchFamily="34" charset="0"/>
                <a:ea typeface="Calibri" pitchFamily="34" charset="-122"/>
                <a:cs typeface="Calibri" pitchFamily="34" charset="-120"/>
              </a:rPr>
              <a:t>Sender</a:t>
            </a:r>
            <a:endParaRPr lang="en-US" sz="1650" dirty="0"/>
          </a:p>
        </p:txBody>
      </p:sp>
      <p:sp>
        <p:nvSpPr>
          <p:cNvPr id="12" name="Text 10"/>
          <p:cNvSpPr/>
          <p:nvPr/>
        </p:nvSpPr>
        <p:spPr>
          <a:xfrm>
            <a:off x="6345936" y="1956816"/>
            <a:ext cx="2148840" cy="1691640"/>
          </a:xfrm>
          <a:prstGeom prst="rect">
            <a:avLst/>
          </a:prstGeom>
          <a:noFill/>
          <a:ln/>
        </p:spPr>
        <p:txBody>
          <a:bodyPr wrap="square" lIns="0" tIns="0" rIns="0" bIns="0" rtlCol="0" anchor="ctr"/>
          <a:lstStyle/>
          <a:p>
            <a:pPr marL="342900" indent="-342900">
              <a:spcAft>
                <a:spcPts val="700"/>
              </a:spcAft>
              <a:buSzPct val="100000"/>
              <a:buChar char="•"/>
            </a:pPr>
            <a:r>
              <a:rPr lang="en-US" sz="1200" dirty="0">
                <a:solidFill>
                  <a:srgbClr val="1F2733"/>
                </a:solidFill>
                <a:latin typeface="Calibri" pitchFamily="34" charset="0"/>
                <a:ea typeface="Calibri" pitchFamily="34" charset="-122"/>
                <a:cs typeface="Calibri" pitchFamily="34" charset="-120"/>
              </a:rPr>
              <a:t>new ACK handler: rate ← path-min fairRate</a:t>
            </a:r>
            <a:endParaRPr lang="en-US" sz="1200" dirty="0"/>
          </a:p>
          <a:p>
            <a:pPr marL="342900" indent="-342900">
              <a:spcAft>
                <a:spcPts val="700"/>
              </a:spcAft>
              <a:buSzPct val="100000"/>
              <a:buChar char="•"/>
            </a:pPr>
            <a:r>
              <a:rPr lang="en-US" sz="1200" dirty="0">
                <a:solidFill>
                  <a:srgbClr val="1F2733"/>
                </a:solidFill>
                <a:latin typeface="Calibri" pitchFamily="34" charset="0"/>
                <a:ea typeface="Calibri" pitchFamily="34" charset="-122"/>
                <a:cs typeface="Calibri" pitchFamily="34" charset="-120"/>
              </a:rPr>
              <a:t>clamped to [minRate, NIC]</a:t>
            </a:r>
            <a:endParaRPr lang="en-US" sz="1200" dirty="0"/>
          </a:p>
          <a:p>
            <a:pPr marL="342900" indent="-342900">
              <a:spcAft>
                <a:spcPts val="700"/>
              </a:spcAft>
              <a:buSzPct val="100000"/>
              <a:buChar char="•"/>
            </a:pPr>
            <a:r>
              <a:rPr lang="en-US" sz="1200" dirty="0">
                <a:solidFill>
                  <a:srgbClr val="1F2733"/>
                </a:solidFill>
                <a:latin typeface="Calibri" pitchFamily="34" charset="0"/>
                <a:ea typeface="Calibri" pitchFamily="34" charset="-122"/>
                <a:cs typeface="Calibri" pitchFamily="34" charset="-120"/>
              </a:rPr>
              <a:t>rate-only: per-flow window cap off</a:t>
            </a:r>
            <a:endParaRPr lang="en-US" sz="1200" dirty="0"/>
          </a:p>
        </p:txBody>
      </p:sp>
      <p:sp>
        <p:nvSpPr>
          <p:cNvPr id="13" name="Shape 11"/>
          <p:cNvSpPr/>
          <p:nvPr/>
        </p:nvSpPr>
        <p:spPr>
          <a:xfrm>
            <a:off x="548640" y="4023360"/>
            <a:ext cx="3931920" cy="502920"/>
          </a:xfrm>
          <a:prstGeom prst="roundRect">
            <a:avLst>
              <a:gd name="adj" fmla="val 14545"/>
            </a:avLst>
          </a:prstGeom>
          <a:solidFill>
            <a:srgbClr val="1E2761"/>
          </a:solidFill>
          <a:ln/>
        </p:spPr>
      </p:sp>
      <p:sp>
        <p:nvSpPr>
          <p:cNvPr id="14" name="Text 12"/>
          <p:cNvSpPr/>
          <p:nvPr/>
        </p:nvSpPr>
        <p:spPr>
          <a:xfrm>
            <a:off x="548640" y="4023360"/>
            <a:ext cx="3931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stock HPCC (cc_mode 3): byte-for-byte unchanged</a:t>
            </a:r>
            <a:endParaRPr lang="en-US" sz="1200" dirty="0"/>
          </a:p>
        </p:txBody>
      </p:sp>
      <p:sp>
        <p:nvSpPr>
          <p:cNvPr id="15" name="Shape 13"/>
          <p:cNvSpPr/>
          <p:nvPr/>
        </p:nvSpPr>
        <p:spPr>
          <a:xfrm>
            <a:off x="4709160" y="4023360"/>
            <a:ext cx="3931920" cy="502920"/>
          </a:xfrm>
          <a:prstGeom prst="roundRect">
            <a:avLst>
              <a:gd name="adj" fmla="val 14545"/>
            </a:avLst>
          </a:prstGeom>
          <a:solidFill>
            <a:srgbClr val="CADCFC"/>
          </a:solidFill>
          <a:ln/>
        </p:spPr>
      </p:sp>
      <p:sp>
        <p:nvSpPr>
          <p:cNvPr id="16" name="Text 14"/>
          <p:cNvSpPr/>
          <p:nvPr/>
        </p:nvSpPr>
        <p:spPr>
          <a:xfrm>
            <a:off x="4709160" y="4023360"/>
            <a:ext cx="3931920" cy="502920"/>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an operating mode selected per traffic class — not a replacement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138160" cy="274320"/>
          </a:xfrm>
          <a:prstGeom prst="rect">
            <a:avLst/>
          </a:prstGeom>
          <a:noFill/>
          <a:ln/>
        </p:spPr>
        <p:txBody>
          <a:bodyPr wrap="square" lIns="0" tIns="0" rIns="0" bIns="0" rtlCol="0" anchor="ctr"/>
          <a:lstStyle/>
          <a:p>
            <a:pPr indent="0" marL="0">
              <a:buNone/>
            </a:pPr>
            <a:r>
              <a:rPr lang="en-US" sz="1100" b="1" spc="300" kern="0" dirty="0">
                <a:solidFill>
                  <a:srgbClr val="5B6675"/>
                </a:solidFill>
                <a:latin typeface="Calibri" pitchFamily="34" charset="0"/>
                <a:ea typeface="Calibri" pitchFamily="34" charset="-122"/>
                <a:cs typeface="Calibri" pitchFamily="34" charset="-120"/>
              </a:rPr>
              <a:t>RESULTS</a:t>
            </a:r>
            <a:endParaRPr lang="en-US" sz="1100" dirty="0"/>
          </a:p>
        </p:txBody>
      </p:sp>
      <p:sp>
        <p:nvSpPr>
          <p:cNvPr id="3" name="Text 1"/>
          <p:cNvSpPr/>
          <p:nvPr/>
        </p:nvSpPr>
        <p:spPr>
          <a:xfrm>
            <a:off x="502920" y="502920"/>
            <a:ext cx="8138160" cy="566928"/>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Flat at 1.0 across the whole sweep — zero PFC</a:t>
            </a:r>
            <a:endParaRPr lang="en-US" sz="2700" dirty="0"/>
          </a:p>
        </p:txBody>
      </p:sp>
      <p:pic>
        <p:nvPicPr>
          <p:cNvPr id="4" name="Image 0" descr="../figures/fig_nsweep.png">    </p:cNvPr>
          <p:cNvPicPr>
            <a:picLocks noChangeAspect="1"/>
          </p:cNvPicPr>
          <p:nvPr/>
        </p:nvPicPr>
        <p:blipFill>
          <a:blip r:embed="rId1"/>
          <a:stretch>
            <a:fillRect/>
          </a:stretch>
        </p:blipFill>
        <p:spPr>
          <a:xfrm>
            <a:off x="640080" y="1280160"/>
            <a:ext cx="5349240" cy="3026664"/>
          </a:xfrm>
          <a:prstGeom prst="rect">
            <a:avLst/>
          </a:prstGeom>
        </p:spPr>
      </p:pic>
      <p:sp>
        <p:nvSpPr>
          <p:cNvPr id="5" name="Shape 2"/>
          <p:cNvSpPr/>
          <p:nvPr/>
        </p:nvSpPr>
        <p:spPr>
          <a:xfrm>
            <a:off x="6172200" y="1325880"/>
            <a:ext cx="2514600" cy="896112"/>
          </a:xfrm>
          <a:prstGeom prst="roundRect">
            <a:avLst>
              <a:gd name="adj" fmla="val 9184"/>
            </a:avLst>
          </a:prstGeom>
          <a:solidFill>
            <a:srgbClr val="E9F0F8"/>
          </a:solidFill>
          <a:ln/>
          <a:effectLst>
            <a:outerShdw sx="100000" sy="100000" kx="0" ky="0" algn="bl" rotWithShape="0" blurRad="88900" dist="25400" dir="2700000">
              <a:srgbClr val="000000">
                <a:alpha val="14000"/>
              </a:srgbClr>
            </a:outerShdw>
          </a:effectLst>
        </p:spPr>
      </p:sp>
      <p:sp>
        <p:nvSpPr>
          <p:cNvPr id="6" name="Text 3"/>
          <p:cNvSpPr/>
          <p:nvPr/>
        </p:nvSpPr>
        <p:spPr>
          <a:xfrm>
            <a:off x="6355080" y="1408176"/>
            <a:ext cx="2194560" cy="768096"/>
          </a:xfrm>
          <a:prstGeom prst="rect">
            <a:avLst/>
          </a:prstGeom>
          <a:noFill/>
          <a:ln/>
        </p:spPr>
        <p:txBody>
          <a:bodyPr wrap="square" lIns="0" tIns="0" rIns="0" bIns="0" rtlCol="0" anchor="ctr"/>
          <a:lstStyle/>
          <a:p>
            <a:pPr indent="0" marL="0">
              <a:buNone/>
            </a:pPr>
            <a:r>
              <a:rPr lang="en-US" sz="1900" b="1" dirty="0">
                <a:solidFill>
                  <a:srgbClr val="4F81BD"/>
                </a:solidFill>
                <a:latin typeface="Cambria" pitchFamily="34" charset="0"/>
                <a:ea typeface="Cambria" pitchFamily="34" charset="-122"/>
                <a:cs typeface="Cambria" pitchFamily="34" charset="-120"/>
              </a:rPr>
              <a:t>1.005×</a:t>
            </a:r>
            <a:endParaRPr lang="en-US" sz="1900" dirty="0"/>
          </a:p>
          <a:p>
            <a:pPr indent="0" marL="0">
              <a:buNone/>
            </a:pPr>
            <a:r>
              <a:rPr lang="en-US" sz="1050" dirty="0">
                <a:solidFill>
                  <a:srgbClr val="1F2733"/>
                </a:solidFill>
                <a:latin typeface="Calibri" pitchFamily="34" charset="0"/>
                <a:ea typeface="Calibri" pitchFamily="34" charset="-122"/>
                <a:cs typeface="Calibri" pitchFamily="34" charset="-120"/>
              </a:rPr>
              <a:t>penalty at N = 4  (was 1.96×)</a:t>
            </a:r>
            <a:endParaRPr lang="en-US" sz="1900" dirty="0"/>
          </a:p>
        </p:txBody>
      </p:sp>
      <p:sp>
        <p:nvSpPr>
          <p:cNvPr id="7" name="Shape 4"/>
          <p:cNvSpPr/>
          <p:nvPr/>
        </p:nvSpPr>
        <p:spPr>
          <a:xfrm>
            <a:off x="6172200" y="2359152"/>
            <a:ext cx="2514600" cy="896112"/>
          </a:xfrm>
          <a:prstGeom prst="roundRect">
            <a:avLst>
              <a:gd name="adj" fmla="val 9184"/>
            </a:avLst>
          </a:prstGeom>
          <a:solidFill>
            <a:srgbClr val="E9F0F8"/>
          </a:solidFill>
          <a:ln/>
          <a:effectLst>
            <a:outerShdw sx="100000" sy="100000" kx="0" ky="0" algn="bl" rotWithShape="0" blurRad="88900" dist="25400" dir="2700000">
              <a:srgbClr val="000000">
                <a:alpha val="14000"/>
              </a:srgbClr>
            </a:outerShdw>
          </a:effectLst>
        </p:spPr>
      </p:sp>
      <p:sp>
        <p:nvSpPr>
          <p:cNvPr id="8" name="Text 5"/>
          <p:cNvSpPr/>
          <p:nvPr/>
        </p:nvSpPr>
        <p:spPr>
          <a:xfrm>
            <a:off x="6355080" y="2441448"/>
            <a:ext cx="2194560" cy="768096"/>
          </a:xfrm>
          <a:prstGeom prst="rect">
            <a:avLst/>
          </a:prstGeom>
          <a:noFill/>
          <a:ln/>
        </p:spPr>
        <p:txBody>
          <a:bodyPr wrap="square" lIns="0" tIns="0" rIns="0" bIns="0" rtlCol="0" anchor="ctr"/>
          <a:lstStyle/>
          <a:p>
            <a:pPr indent="0" marL="0">
              <a:buNone/>
            </a:pPr>
            <a:r>
              <a:rPr lang="en-US" sz="1900" b="1" dirty="0">
                <a:solidFill>
                  <a:srgbClr val="4F81BD"/>
                </a:solidFill>
                <a:latin typeface="Cambria" pitchFamily="34" charset="0"/>
                <a:ea typeface="Cambria" pitchFamily="34" charset="-122"/>
                <a:cs typeface="Cambria" pitchFamily="34" charset="-120"/>
              </a:rPr>
              <a:t>1.003–1.007×</a:t>
            </a:r>
            <a:endParaRPr lang="en-US" sz="1900" dirty="0"/>
          </a:p>
          <a:p>
            <a:pPr indent="0" marL="0">
              <a:buNone/>
            </a:pPr>
            <a:r>
              <a:rPr lang="en-US" sz="1050" dirty="0">
                <a:solidFill>
                  <a:srgbClr val="1F2733"/>
                </a:solidFill>
                <a:latin typeface="Calibri" pitchFamily="34" charset="0"/>
                <a:ea typeface="Calibri" pitchFamily="34" charset="-122"/>
                <a:cs typeface="Calibri" pitchFamily="34" charset="-120"/>
              </a:rPr>
              <a:t>across N = 2…6, incl. the overflow regime</a:t>
            </a:r>
            <a:endParaRPr lang="en-US" sz="1900" dirty="0"/>
          </a:p>
        </p:txBody>
      </p:sp>
      <p:sp>
        <p:nvSpPr>
          <p:cNvPr id="9" name="Shape 6"/>
          <p:cNvSpPr/>
          <p:nvPr/>
        </p:nvSpPr>
        <p:spPr>
          <a:xfrm>
            <a:off x="6172200" y="3392424"/>
            <a:ext cx="2514600" cy="896112"/>
          </a:xfrm>
          <a:prstGeom prst="roundRect">
            <a:avLst>
              <a:gd name="adj" fmla="val 9184"/>
            </a:avLst>
          </a:prstGeom>
          <a:solidFill>
            <a:srgbClr val="E9F4EC"/>
          </a:solidFill>
          <a:ln/>
          <a:effectLst>
            <a:outerShdw sx="100000" sy="100000" kx="0" ky="0" algn="bl" rotWithShape="0" blurRad="88900" dist="25400" dir="2700000">
              <a:srgbClr val="000000">
                <a:alpha val="14000"/>
              </a:srgbClr>
            </a:outerShdw>
          </a:effectLst>
        </p:spPr>
      </p:sp>
      <p:sp>
        <p:nvSpPr>
          <p:cNvPr id="10" name="Text 7"/>
          <p:cNvSpPr/>
          <p:nvPr/>
        </p:nvSpPr>
        <p:spPr>
          <a:xfrm>
            <a:off x="6355080" y="3474720"/>
            <a:ext cx="2194560" cy="768096"/>
          </a:xfrm>
          <a:prstGeom prst="rect">
            <a:avLst/>
          </a:prstGeom>
          <a:noFill/>
          <a:ln/>
        </p:spPr>
        <p:txBody>
          <a:bodyPr wrap="square" lIns="0" tIns="0" rIns="0" bIns="0" rtlCol="0" anchor="ctr"/>
          <a:lstStyle/>
          <a:p>
            <a:pPr indent="0" marL="0">
              <a:buNone/>
            </a:pPr>
            <a:r>
              <a:rPr lang="en-US" sz="1900" b="1" dirty="0">
                <a:solidFill>
                  <a:srgbClr val="1A7F37"/>
                </a:solidFill>
                <a:latin typeface="Cambria" pitchFamily="34" charset="0"/>
                <a:ea typeface="Cambria" pitchFamily="34" charset="-122"/>
                <a:cs typeface="Cambria" pitchFamily="34" charset="-120"/>
              </a:rPr>
              <a:t>0 PFC</a:t>
            </a:r>
            <a:endParaRPr lang="en-US" sz="1900" dirty="0"/>
          </a:p>
          <a:p>
            <a:pPr indent="0" marL="0">
              <a:buNone/>
            </a:pPr>
            <a:r>
              <a:rPr lang="en-US" sz="1050" dirty="0">
                <a:solidFill>
                  <a:srgbClr val="1F2733"/>
                </a:solidFill>
                <a:latin typeface="Calibri" pitchFamily="34" charset="0"/>
                <a:ea typeface="Calibri" pitchFamily="34" charset="-122"/>
                <a:cs typeface="Calibri" pitchFamily="34" charset="-120"/>
              </a:rPr>
              <a:t>every workload, every N</a:t>
            </a:r>
            <a:endParaRPr lang="en-US" sz="1900" dirty="0"/>
          </a:p>
        </p:txBody>
      </p:sp>
      <p:sp>
        <p:nvSpPr>
          <p:cNvPr id="11" name="Text 8"/>
          <p:cNvSpPr/>
          <p:nvPr/>
        </p:nvSpPr>
        <p:spPr>
          <a:xfrm>
            <a:off x="640080" y="4480560"/>
            <a:ext cx="8046720" cy="384048"/>
          </a:xfrm>
          <a:prstGeom prst="rect">
            <a:avLst/>
          </a:prstGeom>
          <a:noFill/>
          <a:ln/>
        </p:spPr>
        <p:txBody>
          <a:bodyPr wrap="square" rtlCol="0" anchor="ctr"/>
          <a:lstStyle/>
          <a:p>
            <a:pPr algn="ctr" indent="0" marL="0">
              <a:buNone/>
            </a:pPr>
            <a:r>
              <a:rPr lang="en-US" sz="1250" i="1" dirty="0">
                <a:solidFill>
                  <a:srgbClr val="5B6675"/>
                </a:solidFill>
                <a:latin typeface="Calibri" pitchFamily="34" charset="0"/>
                <a:ea typeface="Calibri" pitchFamily="34" charset="-122"/>
                <a:cs typeface="Calibri" pitchFamily="34" charset="-120"/>
              </a:rPr>
              <a:t>HPCC-PINT (compressed INT): 1.77–1.88× · PowerTCP (NSDI’22): 1.79–1.86× — neither a smaller footprint nor a newer law is the fix; a fair-share signal is.</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138160" cy="274320"/>
          </a:xfrm>
          <a:prstGeom prst="rect">
            <a:avLst/>
          </a:prstGeom>
          <a:noFill/>
          <a:ln/>
        </p:spPr>
        <p:txBody>
          <a:bodyPr wrap="square" lIns="0" tIns="0" rIns="0" bIns="0" rtlCol="0" anchor="ctr"/>
          <a:lstStyle/>
          <a:p>
            <a:pPr indent="0" marL="0">
              <a:buNone/>
            </a:pPr>
            <a:r>
              <a:rPr lang="en-US" sz="1100" b="1" spc="300" kern="0" dirty="0">
                <a:solidFill>
                  <a:srgbClr val="5B6675"/>
                </a:solidFill>
                <a:latin typeface="Calibri" pitchFamily="34" charset="0"/>
                <a:ea typeface="Calibri" pitchFamily="34" charset="-122"/>
                <a:cs typeface="Calibri" pitchFamily="34" charset="-120"/>
              </a:rPr>
              <a:t>RESULTS</a:t>
            </a:r>
            <a:endParaRPr lang="en-US" sz="1100" dirty="0"/>
          </a:p>
        </p:txBody>
      </p:sp>
      <p:sp>
        <p:nvSpPr>
          <p:cNvPr id="3" name="Text 1"/>
          <p:cNvSpPr/>
          <p:nvPr/>
        </p:nvSpPr>
        <p:spPr>
          <a:xfrm>
            <a:off x="502920" y="502920"/>
            <a:ext cx="8138160" cy="566928"/>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It generalizes — and holds under asymmetry</a:t>
            </a:r>
            <a:endParaRPr lang="en-US" sz="2700" dirty="0"/>
          </a:p>
        </p:txBody>
      </p:sp>
      <p:pic>
        <p:nvPicPr>
          <p:cNvPr id="4" name="Image 0" descr="../figures/fig_robustness.png">    </p:cNvPr>
          <p:cNvPicPr>
            <a:picLocks noChangeAspect="1"/>
          </p:cNvPicPr>
          <p:nvPr/>
        </p:nvPicPr>
        <p:blipFill>
          <a:blip r:embed="rId1"/>
          <a:stretch>
            <a:fillRect/>
          </a:stretch>
        </p:blipFill>
        <p:spPr>
          <a:xfrm>
            <a:off x="502920" y="1417320"/>
            <a:ext cx="5212080" cy="2606040"/>
          </a:xfrm>
          <a:prstGeom prst="rect">
            <a:avLst/>
          </a:prstGeom>
        </p:spPr>
      </p:pic>
      <p:sp>
        <p:nvSpPr>
          <p:cNvPr id="5" name="Text 2"/>
          <p:cNvSpPr/>
          <p:nvPr/>
        </p:nvSpPr>
        <p:spPr>
          <a:xfrm>
            <a:off x="502920" y="4114800"/>
            <a:ext cx="5212080" cy="566928"/>
          </a:xfrm>
          <a:prstGeom prst="rect">
            <a:avLst/>
          </a:prstGeom>
          <a:noFill/>
          <a:ln/>
        </p:spPr>
        <p:txBody>
          <a:bodyPr wrap="square" rtlCol="0" anchor="ctr"/>
          <a:lstStyle/>
          <a:p>
            <a:pPr algn="ctr" indent="0" marL="0">
              <a:buNone/>
            </a:pPr>
            <a:r>
              <a:rPr lang="en-US" sz="1100" i="1" dirty="0">
                <a:solidFill>
                  <a:srgbClr val="5B6675"/>
                </a:solidFill>
                <a:latin typeface="Calibri" pitchFamily="34" charset="0"/>
                <a:ea typeface="Calibri" pitchFamily="34" charset="-122"/>
                <a:cs typeface="Calibri" pitchFamily="34" charset="-120"/>
              </a:rPr>
              <a:t>six asymmetric-size / staggered-start variants at N = 4: RDMA-RCP within 1.0 ± 0.012 (worst stock case 3.53× → 1.012×); start-jitter ensembles: stock 1.96–1.99×, RDMA-RCP 1.008–1.017×</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897880" y="1463040"/>
          <a:ext cx="2834640" cy="914400"/>
        </p:xfrm>
        <a:graphic>
          <a:graphicData uri="http://schemas.openxmlformats.org/drawingml/2006/table">
            <a:tbl>
              <a:tblPr/>
              <a:tblGrid>
                <a:gridCol w="1371600"/>
                <a:gridCol w="640080"/>
                <a:gridCol w="822960"/>
              </a:tblGrid>
              <a:tr h="40233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topology</a:t>
                      </a:r>
                      <a:endParaRPr lang="en-US" sz="1200" dirty="0">
                        <a:latin typeface="Calibri" charset="0"/>
                        <a:ea typeface="Calibri" charset="0"/>
                        <a:cs typeface="Calibri" charset="0"/>
                      </a:endParaRPr>
                    </a:p>
                  </a:txBody>
                  <a:tcPr marL="36576" marR="36576" marT="36576" marB="36576"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stock</a:t>
                      </a:r>
                      <a:endParaRPr lang="en-US" sz="1200" dirty="0">
                        <a:latin typeface="Calibri" charset="0"/>
                        <a:ea typeface="Calibri" charset="0"/>
                        <a:cs typeface="Calibri" charset="0"/>
                      </a:endParaRPr>
                    </a:p>
                  </a:txBody>
                  <a:tcPr marL="36576" marR="36576" marT="36576" marB="36576"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RDMA-RCP</a:t>
                      </a:r>
                      <a:endParaRPr lang="en-US" sz="1200" dirty="0">
                        <a:latin typeface="Calibri" charset="0"/>
                        <a:ea typeface="Calibri" charset="0"/>
                        <a:cs typeface="Calibri" charset="0"/>
                      </a:endParaRPr>
                    </a:p>
                  </a:txBody>
                  <a:tcPr marL="36576" marR="36576" marT="36576" marB="36576"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E2761"/>
                    </a:solidFill>
                  </a:tcPr>
                </a:tc>
              </a:tr>
              <a:tr h="402336">
                <a:tc>
                  <a:txBody>
                    <a:bodyPr/>
                    <a:lstStyle/>
                    <a:p>
                      <a:pPr indent="0" marL="0">
                        <a:buNone/>
                      </a:pPr>
                      <a:r>
                        <a:rPr lang="en-US" sz="1150" dirty="0">
                          <a:solidFill>
                            <a:srgbClr val="1F2733"/>
                          </a:solidFill>
                          <a:latin typeface="Calibri" pitchFamily="34" charset="0"/>
                          <a:ea typeface="Calibri" pitchFamily="34" charset="-122"/>
                          <a:cs typeface="Calibri" pitchFamily="34" charset="-120"/>
                        </a:rPr>
                        <a:t>3-tier tree fabric</a:t>
                      </a:r>
                      <a:endParaRPr lang="en-US" sz="1150" dirty="0">
                        <a:latin typeface="Calibri" charset="0"/>
                        <a:ea typeface="Calibri" charset="0"/>
                        <a:cs typeface="Calibri" charset="0"/>
                      </a:endParaRPr>
                    </a:p>
                  </a:txBody>
                  <a:tcPr marL="36576" marR="36576" marT="36576" marB="36576"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C0504D"/>
                          </a:solidFill>
                          <a:latin typeface="Calibri" pitchFamily="34" charset="0"/>
                          <a:ea typeface="Calibri" pitchFamily="34" charset="-122"/>
                          <a:cs typeface="Calibri" pitchFamily="34" charset="-120"/>
                        </a:rPr>
                        <a:t>1.36×</a:t>
                      </a:r>
                      <a:endParaRPr lang="en-US" sz="1150" dirty="0">
                        <a:latin typeface="Calibri" charset="0"/>
                        <a:ea typeface="Calibri" charset="0"/>
                        <a:cs typeface="Calibri" charset="0"/>
                      </a:endParaRPr>
                    </a:p>
                  </a:txBody>
                  <a:tcPr marL="36576" marR="36576" marT="36576" marB="36576"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4F81BD"/>
                          </a:solidFill>
                          <a:latin typeface="Calibri" pitchFamily="34" charset="0"/>
                          <a:ea typeface="Calibri" pitchFamily="34" charset="-122"/>
                          <a:cs typeface="Calibri" pitchFamily="34" charset="-120"/>
                        </a:rPr>
                        <a:t>1.003×</a:t>
                      </a:r>
                      <a:endParaRPr lang="en-US" sz="1150" dirty="0">
                        <a:latin typeface="Calibri" charset="0"/>
                        <a:ea typeface="Calibri" charset="0"/>
                        <a:cs typeface="Calibri" charset="0"/>
                      </a:endParaRPr>
                    </a:p>
                  </a:txBody>
                  <a:tcPr marL="36576" marR="36576" marT="36576" marB="36576"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402336">
                <a:tc>
                  <a:txBody>
                    <a:bodyPr/>
                    <a:lstStyle/>
                    <a:p>
                      <a:pPr indent="0" marL="0">
                        <a:buNone/>
                      </a:pPr>
                      <a:r>
                        <a:rPr lang="en-US" sz="1150" dirty="0">
                          <a:solidFill>
                            <a:srgbClr val="1F2733"/>
                          </a:solidFill>
                          <a:latin typeface="Calibri" pitchFamily="34" charset="0"/>
                          <a:ea typeface="Calibri" pitchFamily="34" charset="-122"/>
                          <a:cs typeface="Calibri" pitchFamily="34" charset="-120"/>
                        </a:rPr>
                        <a:t>k=4 ECMP fat-tree †</a:t>
                      </a:r>
                      <a:endParaRPr lang="en-US" sz="1150" dirty="0">
                        <a:latin typeface="Calibri" charset="0"/>
                        <a:ea typeface="Calibri" charset="0"/>
                        <a:cs typeface="Calibri" charset="0"/>
                      </a:endParaRPr>
                    </a:p>
                  </a:txBody>
                  <a:tcPr marL="36576" marR="36576" marT="36576" marB="36576"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C0504D"/>
                          </a:solidFill>
                          <a:latin typeface="Calibri" pitchFamily="34" charset="0"/>
                          <a:ea typeface="Calibri" pitchFamily="34" charset="-122"/>
                          <a:cs typeface="Calibri" pitchFamily="34" charset="-120"/>
                        </a:rPr>
                        <a:t>1.34×</a:t>
                      </a:r>
                      <a:endParaRPr lang="en-US" sz="1150" dirty="0">
                        <a:latin typeface="Calibri" charset="0"/>
                        <a:ea typeface="Calibri" charset="0"/>
                        <a:cs typeface="Calibri" charset="0"/>
                      </a:endParaRPr>
                    </a:p>
                  </a:txBody>
                  <a:tcPr marL="36576" marR="36576" marT="36576" marB="36576"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4F81BD"/>
                          </a:solidFill>
                          <a:latin typeface="Calibri" pitchFamily="34" charset="0"/>
                          <a:ea typeface="Calibri" pitchFamily="34" charset="-122"/>
                          <a:cs typeface="Calibri" pitchFamily="34" charset="-120"/>
                        </a:rPr>
                        <a:t>1.001×</a:t>
                      </a:r>
                      <a:endParaRPr lang="en-US" sz="1150" dirty="0">
                        <a:latin typeface="Calibri" charset="0"/>
                        <a:ea typeface="Calibri" charset="0"/>
                        <a:cs typeface="Calibri" charset="0"/>
                      </a:endParaRPr>
                    </a:p>
                  </a:txBody>
                  <a:tcPr marL="36576" marR="36576" marT="36576" marB="36576"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402336">
                <a:tc>
                  <a:txBody>
                    <a:bodyPr/>
                    <a:lstStyle/>
                    <a:p>
                      <a:pPr indent="0" marL="0">
                        <a:buNone/>
                      </a:pPr>
                      <a:r>
                        <a:rPr lang="en-US" sz="1150" dirty="0">
                          <a:solidFill>
                            <a:srgbClr val="1F2733"/>
                          </a:solidFill>
                          <a:latin typeface="Calibri" pitchFamily="34" charset="0"/>
                          <a:ea typeface="Calibri" pitchFamily="34" charset="-122"/>
                          <a:cs typeface="Calibri" pitchFamily="34" charset="-120"/>
                        </a:rPr>
                        <a:t>parking lot N=5,6</a:t>
                      </a:r>
                      <a:endParaRPr lang="en-US" sz="1150" dirty="0">
                        <a:latin typeface="Calibri" charset="0"/>
                        <a:ea typeface="Calibri" charset="0"/>
                        <a:cs typeface="Calibri" charset="0"/>
                      </a:endParaRPr>
                    </a:p>
                  </a:txBody>
                  <a:tcPr marL="36576" marR="36576" marT="36576" marB="36576"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C0504D"/>
                          </a:solidFill>
                          <a:latin typeface="Calibri" pitchFamily="34" charset="0"/>
                          <a:ea typeface="Calibri" pitchFamily="34" charset="-122"/>
                          <a:cs typeface="Calibri" pitchFamily="34" charset="-120"/>
                        </a:rPr>
                        <a:t>breaks</a:t>
                      </a:r>
                      <a:endParaRPr lang="en-US" sz="1150" dirty="0">
                        <a:latin typeface="Calibri" charset="0"/>
                        <a:ea typeface="Calibri" charset="0"/>
                        <a:cs typeface="Calibri" charset="0"/>
                      </a:endParaRPr>
                    </a:p>
                  </a:txBody>
                  <a:tcPr marL="36576" marR="36576" marT="36576" marB="36576"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4F81BD"/>
                          </a:solidFill>
                          <a:latin typeface="Calibri" pitchFamily="34" charset="0"/>
                          <a:ea typeface="Calibri" pitchFamily="34" charset="-122"/>
                          <a:cs typeface="Calibri" pitchFamily="34" charset="-120"/>
                        </a:rPr>
                        <a:t>1.006–1.007×</a:t>
                      </a:r>
                      <a:endParaRPr lang="en-US" sz="1150" dirty="0">
                        <a:latin typeface="Calibri" charset="0"/>
                        <a:ea typeface="Calibri" charset="0"/>
                        <a:cs typeface="Calibri" charset="0"/>
                      </a:endParaRPr>
                    </a:p>
                  </a:txBody>
                  <a:tcPr marL="36576" marR="36576" marT="36576" marB="36576"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bl>
          </a:graphicData>
        </a:graphic>
      </p:graphicFrame>
      <p:sp>
        <p:nvSpPr>
          <p:cNvPr id="7" name="Text 3"/>
          <p:cNvSpPr/>
          <p:nvPr/>
        </p:nvSpPr>
        <p:spPr>
          <a:xfrm>
            <a:off x="5897880" y="3429000"/>
            <a:ext cx="2834640" cy="1005840"/>
          </a:xfrm>
          <a:prstGeom prst="rect">
            <a:avLst/>
          </a:prstGeom>
          <a:noFill/>
          <a:ln/>
        </p:spPr>
        <p:txBody>
          <a:bodyPr wrap="square" lIns="0" tIns="0" rIns="0" bIns="0" rtlCol="0" anchor="ctr"/>
          <a:lstStyle/>
          <a:p>
            <a:pPr indent="0" marL="0">
              <a:buNone/>
            </a:pPr>
            <a:r>
              <a:rPr lang="en-US" sz="1050" i="1" dirty="0">
                <a:solidFill>
                  <a:srgbClr val="5B6675"/>
                </a:solidFill>
                <a:latin typeface="Calibri" pitchFamily="34" charset="0"/>
                <a:ea typeface="Calibri" pitchFamily="34" charset="-122"/>
                <a:cs typeface="Calibri" pitchFamily="34" charset="-120"/>
              </a:rPr>
              <a:t>† oracle-normalized (removes ECMP placement luck). Across 5 hash seeds the raw ratio is placement-dominated; RDMA-RCP ≤ stock at 4 of 5 seeds (the 5th is uncontended).</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138160" cy="274320"/>
          </a:xfrm>
          <a:prstGeom prst="rect">
            <a:avLst/>
          </a:prstGeom>
          <a:noFill/>
          <a:ln/>
        </p:spPr>
        <p:txBody>
          <a:bodyPr wrap="square" lIns="0" tIns="0" rIns="0" bIns="0" rtlCol="0" anchor="ctr"/>
          <a:lstStyle/>
          <a:p>
            <a:pPr indent="0" marL="0">
              <a:buNone/>
            </a:pPr>
            <a:r>
              <a:rPr lang="en-US" sz="1100" b="1" spc="300" kern="0" dirty="0">
                <a:solidFill>
                  <a:srgbClr val="5B6675"/>
                </a:solidFill>
                <a:latin typeface="Calibri" pitchFamily="34" charset="0"/>
                <a:ea typeface="Calibri" pitchFamily="34" charset="-122"/>
                <a:cs typeface="Calibri" pitchFamily="34" charset="-120"/>
              </a:rPr>
              <a:t>RESULTS</a:t>
            </a:r>
            <a:endParaRPr lang="en-US" sz="1100" dirty="0"/>
          </a:p>
        </p:txBody>
      </p:sp>
      <p:sp>
        <p:nvSpPr>
          <p:cNvPr id="3" name="Text 1"/>
          <p:cNvSpPr/>
          <p:nvPr/>
        </p:nvSpPr>
        <p:spPr>
          <a:xfrm>
            <a:off x="502920" y="502920"/>
            <a:ext cx="8138160" cy="566928"/>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The job is gated by its slowest flow: −18–23% JCT</a:t>
            </a:r>
            <a:endParaRPr lang="en-US" sz="2700" dirty="0"/>
          </a:p>
        </p:txBody>
      </p:sp>
      <p:graphicFrame>
        <p:nvGraphicFramePr>
          <p:cNvPr id="4" name="Chart 0" descr=""/>
          <p:cNvGraphicFramePr/>
          <p:nvPr/>
        </p:nvGraphicFramePr>
        <p:xfrm>
          <a:off x="502920" y="1325880"/>
          <a:ext cx="5120640" cy="30175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320040" y="4416552"/>
            <a:ext cx="5486400" cy="320040"/>
          </a:xfrm>
          <a:prstGeom prst="rect">
            <a:avLst/>
          </a:prstGeom>
          <a:noFill/>
          <a:ln/>
        </p:spPr>
        <p:txBody>
          <a:bodyPr wrap="square" rtlCol="0" anchor="ctr"/>
          <a:lstStyle/>
          <a:p>
            <a:pPr algn="ctr" indent="0" marL="0">
              <a:buNone/>
            </a:pPr>
            <a:r>
              <a:rPr lang="en-US" sz="1050" i="1" dirty="0">
                <a:solidFill>
                  <a:srgbClr val="5B6675"/>
                </a:solidFill>
                <a:latin typeface="Calibri" pitchFamily="34" charset="0"/>
                <a:ea typeface="Calibri" pitchFamily="34" charset="-122"/>
                <a:cs typeface="Calibri" pitchFamily="34" charset="-120"/>
              </a:rPr>
              <a:t>16-flow ring allreduce, k=4 fat-tree — JCT = slowest flow (ms), 5 ECMP hash seeds</a:t>
            </a:r>
            <a:endParaRPr lang="en-US" sz="1050" dirty="0"/>
          </a:p>
        </p:txBody>
      </p:sp>
      <p:sp>
        <p:nvSpPr>
          <p:cNvPr id="6" name="Shape 3"/>
          <p:cNvSpPr/>
          <p:nvPr/>
        </p:nvSpPr>
        <p:spPr>
          <a:xfrm>
            <a:off x="5806440" y="1325880"/>
            <a:ext cx="2880360" cy="896112"/>
          </a:xfrm>
          <a:prstGeom prst="roundRect">
            <a:avLst>
              <a:gd name="adj" fmla="val 9184"/>
            </a:avLst>
          </a:prstGeom>
          <a:solidFill>
            <a:srgbClr val="E9F0F8"/>
          </a:solidFill>
          <a:ln/>
          <a:effectLst>
            <a:outerShdw sx="100000" sy="100000" kx="0" ky="0" algn="bl" rotWithShape="0" blurRad="88900" dist="25400" dir="2700000">
              <a:srgbClr val="000000">
                <a:alpha val="14000"/>
              </a:srgbClr>
            </a:outerShdw>
          </a:effectLst>
        </p:spPr>
      </p:sp>
      <p:sp>
        <p:nvSpPr>
          <p:cNvPr id="7" name="Text 4"/>
          <p:cNvSpPr/>
          <p:nvPr/>
        </p:nvSpPr>
        <p:spPr>
          <a:xfrm>
            <a:off x="5989320" y="1399032"/>
            <a:ext cx="2560320" cy="786384"/>
          </a:xfrm>
          <a:prstGeom prst="rect">
            <a:avLst/>
          </a:prstGeom>
          <a:noFill/>
          <a:ln/>
        </p:spPr>
        <p:txBody>
          <a:bodyPr wrap="square" lIns="0" tIns="0" rIns="0" bIns="0" rtlCol="0" anchor="ctr"/>
          <a:lstStyle/>
          <a:p>
            <a:pPr indent="0" marL="0">
              <a:buNone/>
            </a:pPr>
            <a:r>
              <a:rPr lang="en-US" sz="1700" b="1" dirty="0">
                <a:solidFill>
                  <a:srgbClr val="4F81BD"/>
                </a:solidFill>
                <a:latin typeface="Cambria" pitchFamily="34" charset="0"/>
                <a:ea typeface="Cambria" pitchFamily="34" charset="-122"/>
                <a:cs typeface="Cambria" pitchFamily="34" charset="-120"/>
              </a:rPr>
              <a:t>−18–23%</a:t>
            </a:r>
            <a:endParaRPr lang="en-US" sz="1700" dirty="0"/>
          </a:p>
          <a:p>
            <a:pPr indent="0" marL="0">
              <a:buNone/>
            </a:pPr>
            <a:r>
              <a:rPr lang="en-US" sz="1050" dirty="0">
                <a:solidFill>
                  <a:srgbClr val="1F2733"/>
                </a:solidFill>
                <a:latin typeface="Calibri" pitchFamily="34" charset="0"/>
                <a:ea typeface="Calibri" pitchFamily="34" charset="-122"/>
                <a:cs typeface="Calibri" pitchFamily="34" charset="-120"/>
              </a:rPr>
              <a:t>JCT, every seed tested — −18% with the INT header padded to stock size</a:t>
            </a:r>
            <a:endParaRPr lang="en-US" sz="1700" dirty="0"/>
          </a:p>
        </p:txBody>
      </p:sp>
      <p:sp>
        <p:nvSpPr>
          <p:cNvPr id="8" name="Shape 5"/>
          <p:cNvSpPr/>
          <p:nvPr/>
        </p:nvSpPr>
        <p:spPr>
          <a:xfrm>
            <a:off x="5806440" y="2359152"/>
            <a:ext cx="2880360" cy="896112"/>
          </a:xfrm>
          <a:prstGeom prst="roundRect">
            <a:avLst>
              <a:gd name="adj" fmla="val 9184"/>
            </a:avLst>
          </a:prstGeom>
          <a:solidFill>
            <a:srgbClr val="E9F0F8"/>
          </a:solidFill>
          <a:ln/>
          <a:effectLst>
            <a:outerShdw sx="100000" sy="100000" kx="0" ky="0" algn="bl" rotWithShape="0" blurRad="88900" dist="25400" dir="2700000">
              <a:srgbClr val="000000">
                <a:alpha val="14000"/>
              </a:srgbClr>
            </a:outerShdw>
          </a:effectLst>
        </p:spPr>
      </p:sp>
      <p:sp>
        <p:nvSpPr>
          <p:cNvPr id="9" name="Text 6"/>
          <p:cNvSpPr/>
          <p:nvPr/>
        </p:nvSpPr>
        <p:spPr>
          <a:xfrm>
            <a:off x="5989320" y="2432304"/>
            <a:ext cx="2560320" cy="786384"/>
          </a:xfrm>
          <a:prstGeom prst="rect">
            <a:avLst/>
          </a:prstGeom>
          <a:noFill/>
          <a:ln/>
        </p:spPr>
        <p:txBody>
          <a:bodyPr wrap="square" lIns="0" tIns="0" rIns="0" bIns="0" rtlCol="0" anchor="ctr"/>
          <a:lstStyle/>
          <a:p>
            <a:pPr indent="0" marL="0">
              <a:buNone/>
            </a:pPr>
            <a:r>
              <a:rPr lang="en-US" sz="1700" b="1" dirty="0">
                <a:solidFill>
                  <a:srgbClr val="4F81BD"/>
                </a:solidFill>
                <a:latin typeface="Cambria" pitchFamily="34" charset="0"/>
                <a:ea typeface="Cambria" pitchFamily="34" charset="-122"/>
                <a:cs typeface="Cambria" pitchFamily="34" charset="-120"/>
              </a:rPr>
              <a:t>17.9–18.0 ms</a:t>
            </a:r>
            <a:endParaRPr lang="en-US" sz="1700" dirty="0"/>
          </a:p>
          <a:p>
            <a:pPr indent="0" marL="0">
              <a:buNone/>
            </a:pPr>
            <a:r>
              <a:rPr lang="en-US" sz="1050" dirty="0">
                <a:solidFill>
                  <a:srgbClr val="1F2733"/>
                </a:solidFill>
                <a:latin typeface="Calibri" pitchFamily="34" charset="0"/>
                <a:ea typeface="Calibri" pitchFamily="34" charset="-122"/>
                <a:cs typeface="Calibri" pitchFamily="34" charset="-120"/>
              </a:rPr>
              <a:t>FS JCT is placement-invariant (stock 22.3–23.3)</a:t>
            </a:r>
            <a:endParaRPr lang="en-US" sz="1700" dirty="0"/>
          </a:p>
        </p:txBody>
      </p:sp>
      <p:sp>
        <p:nvSpPr>
          <p:cNvPr id="10" name="Shape 7"/>
          <p:cNvSpPr/>
          <p:nvPr/>
        </p:nvSpPr>
        <p:spPr>
          <a:xfrm>
            <a:off x="5806440" y="3392424"/>
            <a:ext cx="2880360" cy="896112"/>
          </a:xfrm>
          <a:prstGeom prst="roundRect">
            <a:avLst>
              <a:gd name="adj" fmla="val 9184"/>
            </a:avLst>
          </a:prstGeom>
          <a:solidFill>
            <a:srgbClr val="E9F4EC"/>
          </a:solidFill>
          <a:ln/>
          <a:effectLst>
            <a:outerShdw sx="100000" sy="100000" kx="0" ky="0" algn="bl" rotWithShape="0" blurRad="88900" dist="25400" dir="2700000">
              <a:srgbClr val="000000">
                <a:alpha val="14000"/>
              </a:srgbClr>
            </a:outerShdw>
          </a:effectLst>
        </p:spPr>
      </p:sp>
      <p:sp>
        <p:nvSpPr>
          <p:cNvPr id="11" name="Text 8"/>
          <p:cNvSpPr/>
          <p:nvPr/>
        </p:nvSpPr>
        <p:spPr>
          <a:xfrm>
            <a:off x="5989320" y="3465576"/>
            <a:ext cx="2560320" cy="786384"/>
          </a:xfrm>
          <a:prstGeom prst="rect">
            <a:avLst/>
          </a:prstGeom>
          <a:noFill/>
          <a:ln/>
        </p:spPr>
        <p:txBody>
          <a:bodyPr wrap="square" lIns="0" tIns="0" rIns="0" bIns="0" rtlCol="0" anchor="ctr"/>
          <a:lstStyle/>
          <a:p>
            <a:pPr indent="0" marL="0">
              <a:buNone/>
            </a:pPr>
            <a:r>
              <a:rPr lang="en-US" sz="1700" b="1" dirty="0">
                <a:solidFill>
                  <a:srgbClr val="1A7F37"/>
                </a:solidFill>
                <a:latin typeface="Cambria" pitchFamily="34" charset="0"/>
                <a:ea typeface="Cambria" pitchFamily="34" charset="-122"/>
                <a:cs typeface="Cambria" pitchFamily="34" charset="-120"/>
              </a:rPr>
              <a:t>~3× faster</a:t>
            </a:r>
            <a:endParaRPr lang="en-US" sz="1700" dirty="0"/>
          </a:p>
          <a:p>
            <a:pPr indent="0" marL="0">
              <a:buNone/>
            </a:pPr>
            <a:r>
              <a:rPr lang="en-US" sz="1050" dirty="0">
                <a:solidFill>
                  <a:srgbClr val="1F2733"/>
                </a:solidFill>
                <a:latin typeface="Calibri" pitchFamily="34" charset="0"/>
                <a:ea typeface="Calibri" pitchFamily="34" charset="-122"/>
                <a:cs typeface="Calibri" pitchFamily="34" charset="-120"/>
              </a:rPr>
              <a:t>short background flows in this mix — max-min removes the placement lottery</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138160" cy="274320"/>
          </a:xfrm>
          <a:prstGeom prst="rect">
            <a:avLst/>
          </a:prstGeom>
          <a:noFill/>
          <a:ln/>
        </p:spPr>
        <p:txBody>
          <a:bodyPr wrap="square" lIns="0" tIns="0" rIns="0" bIns="0" rtlCol="0" anchor="ctr"/>
          <a:lstStyle/>
          <a:p>
            <a:pPr indent="0" marL="0">
              <a:buNone/>
            </a:pPr>
            <a:r>
              <a:rPr lang="en-US" sz="1100" b="1" spc="300" kern="0" dirty="0">
                <a:solidFill>
                  <a:srgbClr val="5B6675"/>
                </a:solidFill>
                <a:latin typeface="Calibri" pitchFamily="34" charset="0"/>
                <a:ea typeface="Calibri" pitchFamily="34" charset="-122"/>
                <a:cs typeface="Calibri" pitchFamily="34" charset="-120"/>
              </a:rPr>
              <a:t>IS IT A TRICK?</a:t>
            </a:r>
            <a:endParaRPr lang="en-US" sz="1100" dirty="0"/>
          </a:p>
        </p:txBody>
      </p:sp>
      <p:sp>
        <p:nvSpPr>
          <p:cNvPr id="3" name="Text 1"/>
          <p:cNvSpPr/>
          <p:nvPr/>
        </p:nvSpPr>
        <p:spPr>
          <a:xfrm>
            <a:off x="502920" y="502920"/>
            <a:ext cx="8138160" cy="566928"/>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Ablation, sensitivity, and HPCC’s home turf</a:t>
            </a:r>
            <a:endParaRPr lang="en-US" sz="2700" dirty="0"/>
          </a:p>
        </p:txBody>
      </p:sp>
      <p:sp>
        <p:nvSpPr>
          <p:cNvPr id="4" name="Shape 2"/>
          <p:cNvSpPr/>
          <p:nvPr/>
        </p:nvSpPr>
        <p:spPr>
          <a:xfrm>
            <a:off x="548640" y="1325880"/>
            <a:ext cx="2606040" cy="2743200"/>
          </a:xfrm>
          <a:prstGeom prst="roundRect">
            <a:avLst>
              <a:gd name="adj" fmla="val 3158"/>
            </a:avLst>
          </a:prstGeom>
          <a:solidFill>
            <a:srgbClr val="EEF3FB"/>
          </a:solidFill>
          <a:ln/>
          <a:effectLst>
            <a:outerShdw sx="100000" sy="100000" kx="0" ky="0" algn="bl" rotWithShape="0" blurRad="88900" dist="25400" dir="2700000">
              <a:srgbClr val="000000">
                <a:alpha val="14000"/>
              </a:srgbClr>
            </a:outerShdw>
          </a:effectLst>
        </p:spPr>
      </p:sp>
      <p:sp>
        <p:nvSpPr>
          <p:cNvPr id="5" name="Text 3"/>
          <p:cNvSpPr/>
          <p:nvPr/>
        </p:nvSpPr>
        <p:spPr>
          <a:xfrm>
            <a:off x="768096" y="1508760"/>
            <a:ext cx="2194560" cy="2377440"/>
          </a:xfrm>
          <a:prstGeom prst="rect">
            <a:avLst/>
          </a:prstGeom>
          <a:noFill/>
          <a:ln/>
        </p:spPr>
        <p:txBody>
          <a:bodyPr wrap="square" lIns="0" tIns="0" rIns="0" bIns="0" rtlCol="0" anchor="t"/>
          <a:lstStyle/>
          <a:p>
            <a:pPr indent="0" marL="0">
              <a:spcAft>
                <a:spcPts val="600"/>
              </a:spcAft>
              <a:buNone/>
            </a:pPr>
            <a:r>
              <a:rPr lang="en-US" sz="1350" b="1" dirty="0">
                <a:solidFill>
                  <a:srgbClr val="1E2761"/>
                </a:solidFill>
                <a:latin typeface="Calibri" pitchFamily="34" charset="0"/>
                <a:ea typeface="Calibri" pitchFamily="34" charset="-122"/>
                <a:cs typeface="Calibri" pitchFamily="34" charset="-120"/>
              </a:rPr>
              <a:t>Rate-only is necessary</a:t>
            </a:r>
            <a:endParaRPr lang="en-US" sz="1350" dirty="0"/>
          </a:p>
          <a:p>
            <a:pPr indent="0" marL="0">
              <a:spcAft>
                <a:spcPts val="600"/>
              </a:spcAft>
              <a:buNone/>
            </a:pPr>
            <a:r>
              <a:rPr lang="en-US" sz="1150" dirty="0">
                <a:solidFill>
                  <a:srgbClr val="1F2733"/>
                </a:solidFill>
                <a:latin typeface="Calibri" pitchFamily="34" charset="0"/>
                <a:ea typeface="Calibri" pitchFamily="34" charset="-122"/>
                <a:cs typeface="Calibri" pitchFamily="34" charset="-120"/>
              </a:rPr>
              <a:t>Re-enable the per-flow window cap → 1.5–2.5×, worse with path length.</a:t>
            </a:r>
            <a:endParaRPr lang="en-US" sz="1350" dirty="0"/>
          </a:p>
          <a:p>
            <a:pPr indent="0" marL="0">
              <a:buNone/>
            </a:pPr>
            <a:r>
              <a:rPr lang="en-US" sz="1100" dirty="0">
                <a:solidFill>
                  <a:srgbClr val="5B6675"/>
                </a:solidFill>
                <a:latin typeface="Calibri" pitchFamily="34" charset="0"/>
                <a:ea typeface="Calibri" pitchFamily="34" charset="-122"/>
                <a:cs typeface="Calibri" pitchFamily="34" charset="-120"/>
              </a:rPr>
              <a:t>var_win sizes the window from NIC line rate, not the path — the long flow gets window-bound below fair.</a:t>
            </a:r>
            <a:endParaRPr lang="en-US" sz="1350" dirty="0"/>
          </a:p>
        </p:txBody>
      </p:sp>
      <p:sp>
        <p:nvSpPr>
          <p:cNvPr id="6" name="Shape 4"/>
          <p:cNvSpPr/>
          <p:nvPr/>
        </p:nvSpPr>
        <p:spPr>
          <a:xfrm>
            <a:off x="3291840" y="1325880"/>
            <a:ext cx="2606040" cy="2743200"/>
          </a:xfrm>
          <a:prstGeom prst="roundRect">
            <a:avLst>
              <a:gd name="adj" fmla="val 3158"/>
            </a:avLst>
          </a:prstGeom>
          <a:solidFill>
            <a:srgbClr val="EEF3FB"/>
          </a:solidFill>
          <a:ln/>
          <a:effectLst>
            <a:outerShdw sx="100000" sy="100000" kx="0" ky="0" algn="bl" rotWithShape="0" blurRad="88900" dist="25400" dir="2700000">
              <a:srgbClr val="000000">
                <a:alpha val="14000"/>
              </a:srgbClr>
            </a:outerShdw>
          </a:effectLst>
        </p:spPr>
      </p:sp>
      <p:sp>
        <p:nvSpPr>
          <p:cNvPr id="7" name="Text 5"/>
          <p:cNvSpPr/>
          <p:nvPr/>
        </p:nvSpPr>
        <p:spPr>
          <a:xfrm>
            <a:off x="3511296" y="1508760"/>
            <a:ext cx="2194560" cy="2377440"/>
          </a:xfrm>
          <a:prstGeom prst="rect">
            <a:avLst/>
          </a:prstGeom>
          <a:noFill/>
          <a:ln/>
        </p:spPr>
        <p:txBody>
          <a:bodyPr wrap="square" lIns="0" tIns="0" rIns="0" bIns="0" rtlCol="0" anchor="t"/>
          <a:lstStyle/>
          <a:p>
            <a:pPr indent="0" marL="0">
              <a:spcAft>
                <a:spcPts val="600"/>
              </a:spcAft>
              <a:buNone/>
            </a:pPr>
            <a:r>
              <a:rPr lang="en-US" sz="1350" b="1" dirty="0">
                <a:solidFill>
                  <a:srgbClr val="1E2761"/>
                </a:solidFill>
                <a:latin typeface="Calibri" pitchFamily="34" charset="0"/>
                <a:ea typeface="Calibri" pitchFamily="34" charset="-122"/>
                <a:cs typeface="Calibri" pitchFamily="34" charset="-120"/>
              </a:rPr>
              <a:t>Parameters not load-bearing</a:t>
            </a:r>
            <a:endParaRPr lang="en-US" sz="1350" dirty="0"/>
          </a:p>
          <a:p>
            <a:pPr indent="0" marL="0">
              <a:spcAft>
                <a:spcPts val="600"/>
              </a:spcAft>
              <a:buNone/>
            </a:pPr>
            <a:r>
              <a:rPr lang="en-US" sz="1150" dirty="0">
                <a:solidFill>
                  <a:srgbClr val="1F2733"/>
                </a:solidFill>
                <a:latin typeface="Calibri" pitchFamily="34" charset="0"/>
                <a:ea typeface="Calibri" pitchFamily="34" charset="-122"/>
                <a:cs typeface="Calibri" pitchFamily="34" charset="-120"/>
              </a:rPr>
              <a:t>RCP defaults α = 0.4, β = 0.226 — untuned.</a:t>
            </a:r>
            <a:endParaRPr lang="en-US" sz="1350" dirty="0"/>
          </a:p>
          <a:p>
            <a:pPr indent="0" marL="0">
              <a:buNone/>
            </a:pPr>
            <a:r>
              <a:rPr lang="en-US" sz="1100" dirty="0">
                <a:solidFill>
                  <a:srgbClr val="5B6675"/>
                </a:solidFill>
                <a:latin typeface="Calibri" pitchFamily="34" charset="0"/>
                <a:ea typeface="Calibri" pitchFamily="34" charset="-122"/>
                <a:cs typeface="Calibri" pitchFamily="34" charset="-120"/>
              </a:rPr>
              <a:t>Sweeping α, β, startup fraction, minRate one-at-a-time: penalty stays 1.004–1.008×, PFC = 0 throughout.</a:t>
            </a:r>
            <a:endParaRPr lang="en-US" sz="1350" dirty="0"/>
          </a:p>
        </p:txBody>
      </p:sp>
      <p:sp>
        <p:nvSpPr>
          <p:cNvPr id="8" name="Shape 6"/>
          <p:cNvSpPr/>
          <p:nvPr/>
        </p:nvSpPr>
        <p:spPr>
          <a:xfrm>
            <a:off x="6035040" y="1325880"/>
            <a:ext cx="2606040" cy="2743200"/>
          </a:xfrm>
          <a:prstGeom prst="roundRect">
            <a:avLst>
              <a:gd name="adj" fmla="val 3158"/>
            </a:avLst>
          </a:prstGeom>
          <a:solidFill>
            <a:srgbClr val="E9F0F8"/>
          </a:solidFill>
          <a:ln/>
          <a:effectLst>
            <a:outerShdw sx="100000" sy="100000" kx="0" ky="0" algn="bl" rotWithShape="0" blurRad="88900" dist="25400" dir="2700000">
              <a:srgbClr val="000000">
                <a:alpha val="14000"/>
              </a:srgbClr>
            </a:outerShdw>
          </a:effectLst>
        </p:spPr>
      </p:sp>
      <p:sp>
        <p:nvSpPr>
          <p:cNvPr id="9" name="Text 7"/>
          <p:cNvSpPr/>
          <p:nvPr/>
        </p:nvSpPr>
        <p:spPr>
          <a:xfrm>
            <a:off x="6254496" y="1508760"/>
            <a:ext cx="2194560" cy="2377440"/>
          </a:xfrm>
          <a:prstGeom prst="rect">
            <a:avLst/>
          </a:prstGeom>
          <a:noFill/>
          <a:ln/>
        </p:spPr>
        <p:txBody>
          <a:bodyPr wrap="square" lIns="0" tIns="0" rIns="0" bIns="0" rtlCol="0" anchor="t"/>
          <a:lstStyle/>
          <a:p>
            <a:pPr indent="0" marL="0">
              <a:spcAft>
                <a:spcPts val="600"/>
              </a:spcAft>
              <a:buNone/>
            </a:pPr>
            <a:r>
              <a:rPr lang="en-US" sz="1350" b="1" dirty="0">
                <a:solidFill>
                  <a:srgbClr val="1E2761"/>
                </a:solidFill>
                <a:latin typeface="Calibri" pitchFamily="34" charset="0"/>
                <a:ea typeface="Calibri" pitchFamily="34" charset="-122"/>
                <a:cs typeface="Calibri" pitchFamily="34" charset="-120"/>
              </a:rPr>
              <a:t>Home turf: not a trade-off</a:t>
            </a:r>
            <a:endParaRPr lang="en-US" sz="1350" dirty="0"/>
          </a:p>
          <a:p>
            <a:pPr indent="0" marL="0">
              <a:spcAft>
                <a:spcPts val="400"/>
              </a:spcAft>
              <a:buNone/>
            </a:pPr>
            <a:r>
              <a:rPr lang="en-US" sz="1150" dirty="0">
                <a:solidFill>
                  <a:srgbClr val="1F2733"/>
                </a:solidFill>
                <a:latin typeface="Calibri" pitchFamily="34" charset="0"/>
                <a:ea typeface="Calibri" pitchFamily="34" charset="-122"/>
                <a:cs typeface="Calibri" pitchFamily="34" charset="-120"/>
              </a:rPr>
              <a:t>Single-bottleneck incast, 8 Gbps startup:</a:t>
            </a:r>
            <a:endParaRPr lang="en-US" sz="1350" dirty="0"/>
          </a:p>
          <a:p>
            <a:pPr indent="0" marL="0">
              <a:buNone/>
            </a:pPr>
            <a:r>
              <a:rPr lang="en-US" sz="1200" b="1" dirty="0">
                <a:solidFill>
                  <a:srgbClr val="4F81BD"/>
                </a:solidFill>
                <a:latin typeface="Calibri" pitchFamily="34" charset="0"/>
                <a:ea typeface="Calibri" pitchFamily="34" charset="-122"/>
                <a:cs typeface="Calibri" pitchFamily="34" charset="-120"/>
              </a:rPr>
              <a:t>mean FCT 242 vs 259 μs</a:t>
            </a:r>
            <a:endParaRPr lang="en-US" sz="1350" dirty="0"/>
          </a:p>
          <a:p>
            <a:pPr indent="0" marL="0">
              <a:spcAft>
                <a:spcPts val="400"/>
              </a:spcAft>
              <a:buNone/>
            </a:pPr>
            <a:r>
              <a:rPr lang="en-US" sz="1200" b="1" dirty="0">
                <a:solidFill>
                  <a:srgbClr val="4F81BD"/>
                </a:solidFill>
                <a:latin typeface="Calibri" pitchFamily="34" charset="0"/>
                <a:ea typeface="Calibri" pitchFamily="34" charset="-122"/>
                <a:cs typeface="Calibri" pitchFamily="34" charset="-120"/>
              </a:rPr>
              <a:t>peak queue 38 vs 143 KB</a:t>
            </a:r>
            <a:endParaRPr lang="en-US" sz="1350" dirty="0"/>
          </a:p>
          <a:p>
            <a:pPr indent="0" marL="0">
              <a:buNone/>
            </a:pPr>
            <a:r>
              <a:rPr lang="en-US" sz="1100" dirty="0">
                <a:solidFill>
                  <a:srgbClr val="5B6675"/>
                </a:solidFill>
                <a:latin typeface="Calibri" pitchFamily="34" charset="0"/>
                <a:ea typeface="Calibri" pitchFamily="34" charset="-122"/>
                <a:cs typeface="Calibri" pitchFamily="34" charset="-120"/>
              </a:rPr>
              <a:t>beats HPCC’s FCT at ¼ the queue — fairness headline unchanged.</a:t>
            </a:r>
            <a:endParaRPr lang="en-US" sz="1350" dirty="0"/>
          </a:p>
        </p:txBody>
      </p:sp>
      <p:sp>
        <p:nvSpPr>
          <p:cNvPr id="10" name="Text 8"/>
          <p:cNvSpPr/>
          <p:nvPr/>
        </p:nvSpPr>
        <p:spPr>
          <a:xfrm>
            <a:off x="548640" y="4343400"/>
            <a:ext cx="8092440" cy="365760"/>
          </a:xfrm>
          <a:prstGeom prst="rect">
            <a:avLst/>
          </a:prstGeom>
          <a:noFill/>
          <a:ln/>
        </p:spPr>
        <p:txBody>
          <a:bodyPr wrap="square" rtlCol="0" anchor="ctr"/>
          <a:lstStyle/>
          <a:p>
            <a:pPr algn="ctr" indent="0" marL="0">
              <a:buNone/>
            </a:pPr>
            <a:r>
              <a:rPr lang="en-US" sz="1200" i="1" dirty="0">
                <a:solidFill>
                  <a:srgbClr val="5B6675"/>
                </a:solidFill>
                <a:latin typeface="Calibri" pitchFamily="34" charset="0"/>
                <a:ea typeface="Calibri" pitchFamily="34" charset="-122"/>
                <a:cs typeface="Calibri" pitchFamily="34" charset="-120"/>
              </a:rPr>
              <a:t>Everything regenerates deterministically from the artifact — figures and tables are built from live runs.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138160" cy="274320"/>
          </a:xfrm>
          <a:prstGeom prst="rect">
            <a:avLst/>
          </a:prstGeom>
          <a:noFill/>
          <a:ln/>
        </p:spPr>
        <p:txBody>
          <a:bodyPr wrap="square" lIns="0" tIns="0" rIns="0" bIns="0" rtlCol="0" anchor="ctr"/>
          <a:lstStyle/>
          <a:p>
            <a:pPr indent="0" marL="0">
              <a:buNone/>
            </a:pPr>
            <a:r>
              <a:rPr lang="en-US" sz="1100" b="1" spc="300" kern="0" dirty="0">
                <a:solidFill>
                  <a:srgbClr val="5B6675"/>
                </a:solidFill>
                <a:latin typeface="Calibri" pitchFamily="34" charset="0"/>
                <a:ea typeface="Calibri" pitchFamily="34" charset="-122"/>
                <a:cs typeface="Calibri" pitchFamily="34" charset="-120"/>
              </a:rPr>
              <a:t>POSITIONING</a:t>
            </a:r>
            <a:endParaRPr lang="en-US" sz="1100" dirty="0"/>
          </a:p>
        </p:txBody>
      </p:sp>
      <p:sp>
        <p:nvSpPr>
          <p:cNvPr id="3" name="Text 1"/>
          <p:cNvSpPr/>
          <p:nvPr/>
        </p:nvSpPr>
        <p:spPr>
          <a:xfrm>
            <a:off x="502920" y="502920"/>
            <a:ext cx="8138160" cy="566928"/>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What this is — and what it isn’t</a:t>
            </a:r>
            <a:endParaRPr lang="en-US" sz="2700" dirty="0"/>
          </a:p>
        </p:txBody>
      </p:sp>
      <p:sp>
        <p:nvSpPr>
          <p:cNvPr id="4" name="Shape 2"/>
          <p:cNvSpPr/>
          <p:nvPr/>
        </p:nvSpPr>
        <p:spPr>
          <a:xfrm>
            <a:off x="548640" y="1408176"/>
            <a:ext cx="310896" cy="310896"/>
          </a:xfrm>
          <a:prstGeom prst="ellipse">
            <a:avLst/>
          </a:prstGeom>
          <a:solidFill>
            <a:srgbClr val="1E2761"/>
          </a:solidFill>
          <a:ln/>
        </p:spPr>
      </p:sp>
      <p:sp>
        <p:nvSpPr>
          <p:cNvPr id="5" name="Text 3"/>
          <p:cNvSpPr/>
          <p:nvPr/>
        </p:nvSpPr>
        <p:spPr>
          <a:xfrm>
            <a:off x="548640" y="1394460"/>
            <a:ext cx="310896"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024128" y="1316736"/>
            <a:ext cx="7589520" cy="868680"/>
          </a:xfrm>
          <a:prstGeom prst="rect">
            <a:avLst/>
          </a:prstGeom>
          <a:noFill/>
          <a:ln/>
        </p:spPr>
        <p:txBody>
          <a:bodyPr wrap="square" lIns="0" tIns="0" rIns="0" bIns="0" rtlCol="0" anchor="ctr"/>
          <a:lstStyle/>
          <a:p>
            <a:pPr indent="0" marL="0">
              <a:buNone/>
            </a:pPr>
            <a:r>
              <a:rPr lang="en-US" sz="1400" b="1" dirty="0">
                <a:solidFill>
                  <a:srgbClr val="1F2733"/>
                </a:solidFill>
                <a:latin typeface="Calibri" pitchFamily="34" charset="0"/>
                <a:ea typeface="Calibri" pitchFamily="34" charset="-122"/>
                <a:cs typeface="Calibri" pitchFamily="34" charset="-120"/>
              </a:rPr>
              <a:t>The mechanism is RCP; RDMA-RCP is a mode, not a repair.  </a:t>
            </a:r>
            <a:pPr indent="0" marL="0">
              <a:buNone/>
            </a:pPr>
            <a:r>
              <a:rPr lang="en-US" sz="1250" dirty="0">
                <a:solidFill>
                  <a:srgbClr val="5B6675"/>
                </a:solidFill>
                <a:latin typeface="Calibri" pitchFamily="34" charset="0"/>
                <a:ea typeface="Calibri" pitchFamily="34" charset="-122"/>
                <a:cs typeface="Calibri" pitchFamily="34" charset="-120"/>
              </a:rPr>
              <a:t>We claim the measurement and the placement. Coexistence needs sliced telemetry: even a 50/50 DWRR reservation cannot help a class whose controller reads port-global signals.</a:t>
            </a:r>
            <a:endParaRPr lang="en-US" sz="1400" dirty="0"/>
          </a:p>
        </p:txBody>
      </p:sp>
      <p:sp>
        <p:nvSpPr>
          <p:cNvPr id="7" name="Shape 5"/>
          <p:cNvSpPr/>
          <p:nvPr/>
        </p:nvSpPr>
        <p:spPr>
          <a:xfrm>
            <a:off x="548640" y="2304288"/>
            <a:ext cx="310896" cy="310896"/>
          </a:xfrm>
          <a:prstGeom prst="ellipse">
            <a:avLst/>
          </a:prstGeom>
          <a:solidFill>
            <a:srgbClr val="1E2761"/>
          </a:solidFill>
          <a:ln/>
        </p:spPr>
      </p:sp>
      <p:sp>
        <p:nvSpPr>
          <p:cNvPr id="8" name="Text 6"/>
          <p:cNvSpPr/>
          <p:nvPr/>
        </p:nvSpPr>
        <p:spPr>
          <a:xfrm>
            <a:off x="548640" y="2290572"/>
            <a:ext cx="310896"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1024128" y="2212848"/>
            <a:ext cx="7589520" cy="868680"/>
          </a:xfrm>
          <a:prstGeom prst="rect">
            <a:avLst/>
          </a:prstGeom>
          <a:noFill/>
          <a:ln/>
        </p:spPr>
        <p:txBody>
          <a:bodyPr wrap="square" lIns="0" tIns="0" rIns="0" bIns="0" rtlCol="0" anchor="ctr"/>
          <a:lstStyle/>
          <a:p>
            <a:pPr indent="0" marL="0">
              <a:buNone/>
            </a:pPr>
            <a:r>
              <a:rPr lang="en-US" sz="1400" b="1" dirty="0">
                <a:solidFill>
                  <a:srgbClr val="1F2733"/>
                </a:solidFill>
                <a:latin typeface="Calibri" pitchFamily="34" charset="0"/>
                <a:ea typeface="Calibri" pitchFamily="34" charset="-122"/>
                <a:cs typeface="Calibri" pitchFamily="34" charset="-120"/>
              </a:rPr>
              <a:t>Simulation-only, three topology families.  </a:t>
            </a:r>
            <a:pPr indent="0" marL="0">
              <a:buNone/>
            </a:pPr>
            <a:r>
              <a:rPr lang="en-US" sz="1250" dirty="0">
                <a:solidFill>
                  <a:srgbClr val="5B6675"/>
                </a:solidFill>
                <a:latin typeface="Calibri" pitchFamily="34" charset="0"/>
                <a:ea typeface="Calibri" pitchFamily="34" charset="-122"/>
                <a:cs typeface="Calibri" pitchFamily="34" charset="-120"/>
              </a:rPr>
              <a:t>No testbed; no head-to-head with Bolt. PowerTCP — ported from the authors’ reference code and port-validated — is in the endemic table at 1.79–1.86×. The simulator re-port reproduces the original HPCC baselines end-to-end.</a:t>
            </a:r>
            <a:endParaRPr lang="en-US" sz="1400" dirty="0"/>
          </a:p>
        </p:txBody>
      </p:sp>
      <p:sp>
        <p:nvSpPr>
          <p:cNvPr id="10" name="Shape 8"/>
          <p:cNvSpPr/>
          <p:nvPr/>
        </p:nvSpPr>
        <p:spPr>
          <a:xfrm>
            <a:off x="548640" y="3200400"/>
            <a:ext cx="310896" cy="310896"/>
          </a:xfrm>
          <a:prstGeom prst="ellipse">
            <a:avLst/>
          </a:prstGeom>
          <a:solidFill>
            <a:srgbClr val="1E2761"/>
          </a:solidFill>
          <a:ln/>
        </p:spPr>
      </p:sp>
      <p:sp>
        <p:nvSpPr>
          <p:cNvPr id="11" name="Text 9"/>
          <p:cNvSpPr/>
          <p:nvPr/>
        </p:nvSpPr>
        <p:spPr>
          <a:xfrm>
            <a:off x="548640" y="3186684"/>
            <a:ext cx="310896"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1024128" y="3108960"/>
            <a:ext cx="7589520" cy="868680"/>
          </a:xfrm>
          <a:prstGeom prst="rect">
            <a:avLst/>
          </a:prstGeom>
          <a:noFill/>
          <a:ln/>
        </p:spPr>
        <p:txBody>
          <a:bodyPr wrap="square" lIns="0" tIns="0" rIns="0" bIns="0" rtlCol="0" anchor="ctr"/>
          <a:lstStyle/>
          <a:p>
            <a:pPr indent="0" marL="0">
              <a:buNone/>
            </a:pPr>
            <a:r>
              <a:rPr lang="en-US" sz="1400" b="1" dirty="0">
                <a:solidFill>
                  <a:srgbClr val="1F2733"/>
                </a:solidFill>
                <a:latin typeface="Calibri" pitchFamily="34" charset="0"/>
                <a:ea typeface="Calibri" pitchFamily="34" charset="-122"/>
                <a:cs typeface="Calibri" pitchFamily="34" charset="-120"/>
              </a:rPr>
              <a:t>Convergence is sub-ms, not one RTT.  </a:t>
            </a:r>
            <a:pPr indent="0" marL="0">
              <a:buNone/>
            </a:pPr>
            <a:r>
              <a:rPr lang="en-US" sz="1250" dirty="0">
                <a:solidFill>
                  <a:srgbClr val="5B6675"/>
                </a:solidFill>
                <a:latin typeface="Calibri" pitchFamily="34" charset="0"/>
                <a:ea typeface="Calibri" pitchFamily="34" charset="-122"/>
                <a:cs typeface="Calibri" pitchFamily="34" charset="-120"/>
              </a:rPr>
              <a:t>Within 5% of fair share in ~0.6 ms (~30 RTTs); path-length-independent.</a:t>
            </a:r>
            <a:endParaRPr lang="en-US" sz="1400" dirty="0"/>
          </a:p>
        </p:txBody>
      </p:sp>
      <p:sp>
        <p:nvSpPr>
          <p:cNvPr id="13" name="Shape 11"/>
          <p:cNvSpPr/>
          <p:nvPr/>
        </p:nvSpPr>
        <p:spPr>
          <a:xfrm>
            <a:off x="548640" y="4023360"/>
            <a:ext cx="8092440" cy="777240"/>
          </a:xfrm>
          <a:prstGeom prst="roundRect">
            <a:avLst>
              <a:gd name="adj" fmla="val 10588"/>
            </a:avLst>
          </a:prstGeom>
          <a:solidFill>
            <a:srgbClr val="E9F0F8"/>
          </a:solidFill>
          <a:ln/>
          <a:effectLst>
            <a:outerShdw sx="100000" sy="100000" kx="0" ky="0" algn="bl" rotWithShape="0" blurRad="88900" dist="25400" dir="2700000">
              <a:srgbClr val="000000">
                <a:alpha val="14000"/>
              </a:srgbClr>
            </a:outerShdw>
          </a:effectLst>
        </p:spPr>
      </p:sp>
      <p:sp>
        <p:nvSpPr>
          <p:cNvPr id="14" name="Text 12"/>
          <p:cNvSpPr/>
          <p:nvPr/>
        </p:nvSpPr>
        <p:spPr>
          <a:xfrm>
            <a:off x="777240" y="4087368"/>
            <a:ext cx="7635240" cy="658368"/>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Future: a hybrid overlay — </a:t>
            </a:r>
            <a:pPr indent="0" marL="0">
              <a:buNone/>
            </a:pPr>
            <a:r>
              <a:rPr lang="en-US" sz="1350" dirty="0">
                <a:solidFill>
                  <a:srgbClr val="1E2761"/>
                </a:solidFill>
                <a:latin typeface="Courier New" pitchFamily="34" charset="0"/>
                <a:ea typeface="Courier New" pitchFamily="34" charset="-122"/>
                <a:cs typeface="Courier New" pitchFamily="34" charset="-120"/>
              </a:rPr>
              <a:t>rate = min(rate_HPCC, fairRate)</a:t>
            </a:r>
            <a:pPr indent="0" marL="0">
              <a:buNone/>
            </a:pPr>
            <a:r>
              <a:rPr lang="en-US" sz="1350" dirty="0">
                <a:solidFill>
                  <a:srgbClr val="1E2761"/>
                </a:solidFill>
                <a:latin typeface="Calibri" pitchFamily="34" charset="0"/>
                <a:ea typeface="Calibri" pitchFamily="34" charset="-122"/>
                <a:cs typeface="Calibri" pitchFamily="34" charset="-120"/>
              </a:rPr>
              <a:t> — keep HPCC’s precision and the fairness; needs a path-aware window.</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02920" y="256032"/>
            <a:ext cx="8138160" cy="274320"/>
          </a:xfrm>
          <a:prstGeom prst="rect">
            <a:avLst/>
          </a:prstGeom>
          <a:noFill/>
          <a:ln/>
        </p:spPr>
        <p:txBody>
          <a:bodyPr wrap="square" lIns="0" tIns="0" rIns="0" bIns="0" rtlCol="0" anchor="ctr"/>
          <a:lstStyle/>
          <a:p>
            <a:pPr indent="0" marL="0">
              <a:buNone/>
            </a:pPr>
            <a:r>
              <a:rPr lang="en-US" sz="1100" b="1" spc="300" kern="0" dirty="0">
                <a:solidFill>
                  <a:srgbClr val="CADCFC"/>
                </a:solidFill>
                <a:latin typeface="Calibri" pitchFamily="34" charset="0"/>
                <a:ea typeface="Calibri" pitchFamily="34" charset="-122"/>
                <a:cs typeface="Calibri" pitchFamily="34" charset="-120"/>
              </a:rPr>
              <a:t>CONCLUSION</a:t>
            </a:r>
            <a:endParaRPr lang="en-US" sz="1100" dirty="0"/>
          </a:p>
        </p:txBody>
      </p:sp>
      <p:sp>
        <p:nvSpPr>
          <p:cNvPr id="3" name="Text 1"/>
          <p:cNvSpPr/>
          <p:nvPr/>
        </p:nvSpPr>
        <p:spPr>
          <a:xfrm>
            <a:off x="502920" y="502920"/>
            <a:ext cx="8138160" cy="566928"/>
          </a:xfrm>
          <a:prstGeom prst="rect">
            <a:avLst/>
          </a:prstGeom>
          <a:noFill/>
          <a:ln/>
        </p:spPr>
        <p:txBody>
          <a:bodyPr wrap="square" lIns="0" tIns="0" rIns="0" bIns="0" rtlCol="0" anchor="ctr"/>
          <a:lstStyle/>
          <a:p>
            <a:pPr indent="0" marL="0">
              <a:buNone/>
            </a:pPr>
            <a:r>
              <a:rPr lang="en-US" sz="2700" b="1" dirty="0">
                <a:solidFill>
                  <a:srgbClr val="FFFFFF"/>
                </a:solidFill>
                <a:latin typeface="Calibri" pitchFamily="34" charset="0"/>
                <a:ea typeface="Calibri" pitchFamily="34" charset="-122"/>
                <a:cs typeface="Calibri" pitchFamily="34" charset="-120"/>
              </a:rPr>
              <a:t>One field, one scalar — a coexisting fairness mode</a:t>
            </a:r>
            <a:endParaRPr lang="en-US" sz="2700" dirty="0"/>
          </a:p>
        </p:txBody>
      </p:sp>
      <p:sp>
        <p:nvSpPr>
          <p:cNvPr id="4" name="Shape 2"/>
          <p:cNvSpPr/>
          <p:nvPr/>
        </p:nvSpPr>
        <p:spPr>
          <a:xfrm>
            <a:off x="548640" y="1417320"/>
            <a:ext cx="1828800" cy="731520"/>
          </a:xfrm>
          <a:prstGeom prst="roundRect">
            <a:avLst>
              <a:gd name="adj" fmla="val 10000"/>
            </a:avLst>
          </a:prstGeom>
          <a:solidFill>
            <a:srgbClr val="C0504D"/>
          </a:solidFill>
          <a:ln/>
        </p:spPr>
      </p:sp>
      <p:sp>
        <p:nvSpPr>
          <p:cNvPr id="5" name="Text 3"/>
          <p:cNvSpPr/>
          <p:nvPr/>
        </p:nvSpPr>
        <p:spPr>
          <a:xfrm>
            <a:off x="548640" y="1417320"/>
            <a:ext cx="1828800" cy="73152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Diagnosis</a:t>
            </a:r>
            <a:endParaRPr lang="en-US" sz="1350" dirty="0"/>
          </a:p>
        </p:txBody>
      </p:sp>
      <p:sp>
        <p:nvSpPr>
          <p:cNvPr id="6" name="Text 4"/>
          <p:cNvSpPr/>
          <p:nvPr/>
        </p:nvSpPr>
        <p:spPr>
          <a:xfrm>
            <a:off x="2606040" y="1399032"/>
            <a:ext cx="6035040" cy="8229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Every evaluated scheme is unfair to the multi-bottleneck flow (1.6–2.3× — DCQCN, TIMELY, DCTCP, HPCC, PowerTCP); HPCC is near-winner-take-all (3.5× small flows), breaks past 4 hops. Zero PFC — it’s the equilibrium.</a:t>
            </a:r>
            <a:endParaRPr lang="en-US" sz="1300" dirty="0"/>
          </a:p>
        </p:txBody>
      </p:sp>
      <p:sp>
        <p:nvSpPr>
          <p:cNvPr id="7" name="Shape 5"/>
          <p:cNvSpPr/>
          <p:nvPr/>
        </p:nvSpPr>
        <p:spPr>
          <a:xfrm>
            <a:off x="548640" y="2331720"/>
            <a:ext cx="1828800" cy="731520"/>
          </a:xfrm>
          <a:prstGeom prst="roundRect">
            <a:avLst>
              <a:gd name="adj" fmla="val 10000"/>
            </a:avLst>
          </a:prstGeom>
          <a:solidFill>
            <a:srgbClr val="CADCFC"/>
          </a:solidFill>
          <a:ln/>
        </p:spPr>
      </p:sp>
      <p:sp>
        <p:nvSpPr>
          <p:cNvPr id="8" name="Text 6"/>
          <p:cNvSpPr/>
          <p:nvPr/>
        </p:nvSpPr>
        <p:spPr>
          <a:xfrm>
            <a:off x="548640" y="2331720"/>
            <a:ext cx="1828800" cy="731520"/>
          </a:xfrm>
          <a:prstGeom prst="rect">
            <a:avLst/>
          </a:prstGeom>
          <a:noFill/>
          <a:ln/>
        </p:spPr>
        <p:txBody>
          <a:bodyPr wrap="square" lIns="0" tIns="0" rIns="0" bIns="0" rtlCol="0" anchor="ctr"/>
          <a:lstStyle/>
          <a:p>
            <a:pPr algn="ctr" indent="0" marL="0">
              <a:buNone/>
            </a:pPr>
            <a:r>
              <a:rPr lang="en-US" sz="1350" b="1" dirty="0">
                <a:solidFill>
                  <a:srgbClr val="1E2761"/>
                </a:solidFill>
                <a:latin typeface="Calibri" pitchFamily="34" charset="0"/>
                <a:ea typeface="Calibri" pitchFamily="34" charset="-122"/>
                <a:cs typeface="Calibri" pitchFamily="34" charset="-120"/>
              </a:rPr>
              <a:t>Negative result</a:t>
            </a:r>
            <a:endParaRPr lang="en-US" sz="1350" dirty="0"/>
          </a:p>
        </p:txBody>
      </p:sp>
      <p:sp>
        <p:nvSpPr>
          <p:cNvPr id="9" name="Text 7"/>
          <p:cNvSpPr/>
          <p:nvPr/>
        </p:nvSpPr>
        <p:spPr>
          <a:xfrm>
            <a:off x="2606040" y="2313432"/>
            <a:ext cx="6035040" cy="8229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Six sender-only designs fail — incl. a full RCP mirror. Per-flow FQ equalizes only what senders offer: 1.97× windowed, equal-but-idle windowless.</a:t>
            </a:r>
            <a:endParaRPr lang="en-US" sz="1300" dirty="0"/>
          </a:p>
        </p:txBody>
      </p:sp>
      <p:sp>
        <p:nvSpPr>
          <p:cNvPr id="10" name="Shape 8"/>
          <p:cNvSpPr/>
          <p:nvPr/>
        </p:nvSpPr>
        <p:spPr>
          <a:xfrm>
            <a:off x="548640" y="3246120"/>
            <a:ext cx="1828800" cy="731520"/>
          </a:xfrm>
          <a:prstGeom prst="roundRect">
            <a:avLst>
              <a:gd name="adj" fmla="val 10000"/>
            </a:avLst>
          </a:prstGeom>
          <a:solidFill>
            <a:srgbClr val="4F81BD"/>
          </a:solidFill>
          <a:ln/>
        </p:spPr>
      </p:sp>
      <p:sp>
        <p:nvSpPr>
          <p:cNvPr id="11" name="Text 9"/>
          <p:cNvSpPr/>
          <p:nvPr/>
        </p:nvSpPr>
        <p:spPr>
          <a:xfrm>
            <a:off x="548640" y="3246120"/>
            <a:ext cx="1828800" cy="73152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RDMA-RCP</a:t>
            </a:r>
            <a:endParaRPr lang="en-US" sz="1350" dirty="0"/>
          </a:p>
        </p:txBody>
      </p:sp>
      <p:sp>
        <p:nvSpPr>
          <p:cNvPr id="12" name="Text 10"/>
          <p:cNvSpPr/>
          <p:nvPr/>
        </p:nvSpPr>
        <p:spPr>
          <a:xfrm>
            <a:off x="2606040" y="3227832"/>
            <a:ext cx="6035040" cy="8229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 fabric/slice mode alongside HPCC: 1.005×, flows within 5–13% of oracle (hetero cases), zero PFC, −18–23% coflow JCT. Q16 fixed-point verified; high fan-in needs a longer control interval.</a:t>
            </a:r>
            <a:endParaRPr lang="en-US" sz="1300" dirty="0"/>
          </a:p>
        </p:txBody>
      </p:sp>
      <p:sp>
        <p:nvSpPr>
          <p:cNvPr id="13" name="Text 11"/>
          <p:cNvSpPr/>
          <p:nvPr/>
        </p:nvSpPr>
        <p:spPr>
          <a:xfrm>
            <a:off x="548640" y="4343400"/>
            <a:ext cx="8092440" cy="365760"/>
          </a:xfrm>
          <a:prstGeom prst="rect">
            <a:avLst/>
          </a:prstGeom>
          <a:noFill/>
          <a:ln/>
        </p:spPr>
        <p:txBody>
          <a:bodyPr wrap="square" rtlCol="0" anchor="ctr"/>
          <a:lstStyle/>
          <a:p>
            <a:pPr algn="ctr" indent="0" marL="0">
              <a:buNone/>
            </a:pPr>
            <a:r>
              <a:rPr lang="en-US" sz="1250" dirty="0">
                <a:solidFill>
                  <a:srgbClr val="9DB2D8"/>
                </a:solidFill>
                <a:latin typeface="Calibri" pitchFamily="34" charset="0"/>
                <a:ea typeface="Calibri" pitchFamily="34" charset="-122"/>
                <a:cs typeface="Calibri" pitchFamily="34" charset="-120"/>
              </a:rPr>
              <a:t>Artifact: </a:t>
            </a:r>
            <a:pPr algn="ctr" indent="0" marL="0">
              <a:buNone/>
            </a:pPr>
            <a:r>
              <a:rPr lang="en-US" sz="1250" b="1" dirty="0">
                <a:solidFill>
                  <a:srgbClr val="CADCFC"/>
                </a:solidFill>
                <a:latin typeface="Courier New" pitchFamily="34" charset="0"/>
                <a:ea typeface="Courier New" pitchFamily="34" charset="-122"/>
                <a:cs typeface="Courier New" pitchFamily="34" charset="-120"/>
              </a:rPr>
              <a:t>github.com/UNOCourseDemo/hpcc-fs</a:t>
            </a:r>
            <a:pPr algn="ctr" indent="0" marL="0">
              <a:buNone/>
            </a:pPr>
            <a:r>
              <a:rPr lang="en-US" sz="1250" dirty="0">
                <a:solidFill>
                  <a:srgbClr val="9DB2D8"/>
                </a:solidFill>
                <a:latin typeface="Calibri" pitchFamily="34" charset="0"/>
                <a:ea typeface="Calibri" pitchFamily="34" charset="-122"/>
                <a:cs typeface="Calibri" pitchFamily="34" charset="-120"/>
              </a:rPr>
              <a:t>   ·   raw data DOI </a:t>
            </a:r>
            <a:pPr algn="ctr" indent="0" marL="0">
              <a:buNone/>
            </a:pPr>
            <a:r>
              <a:rPr lang="en-US" sz="1250" b="1" dirty="0">
                <a:solidFill>
                  <a:srgbClr val="CADCFC"/>
                </a:solidFill>
                <a:latin typeface="Courier New" pitchFamily="34" charset="0"/>
                <a:ea typeface="Courier New" pitchFamily="34" charset="-122"/>
                <a:cs typeface="Courier New" pitchFamily="34" charset="-120"/>
              </a:rPr>
              <a:t>10.6084/m9.figshare.34330836</a:t>
            </a:r>
            <a:endParaRPr lang="en-US" sz="1250" dirty="0"/>
          </a:p>
        </p:txBody>
      </p:sp>
      <p:sp>
        <p:nvSpPr>
          <p:cNvPr id="14" name="Text 12"/>
          <p:cNvSpPr/>
          <p:nvPr/>
        </p:nvSpPr>
        <p:spPr>
          <a:xfrm>
            <a:off x="548640" y="4681728"/>
            <a:ext cx="8092440" cy="36576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Thank you — questions?</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138160" cy="274320"/>
          </a:xfrm>
          <a:prstGeom prst="rect">
            <a:avLst/>
          </a:prstGeom>
          <a:noFill/>
          <a:ln/>
        </p:spPr>
        <p:txBody>
          <a:bodyPr wrap="square" lIns="0" tIns="0" rIns="0" bIns="0" rtlCol="0" anchor="ctr"/>
          <a:lstStyle/>
          <a:p>
            <a:pPr indent="0" marL="0">
              <a:buNone/>
            </a:pPr>
            <a:r>
              <a:rPr lang="en-US" sz="1100" b="1" spc="300" kern="0" dirty="0">
                <a:solidFill>
                  <a:srgbClr val="5B6675"/>
                </a:solidFill>
                <a:latin typeface="Calibri" pitchFamily="34" charset="0"/>
                <a:ea typeface="Calibri" pitchFamily="34" charset="-122"/>
                <a:cs typeface="Calibri" pitchFamily="34" charset="-120"/>
              </a:rPr>
              <a:t>BACKUP</a:t>
            </a:r>
            <a:endParaRPr lang="en-US" sz="1100" dirty="0"/>
          </a:p>
        </p:txBody>
      </p:sp>
      <p:sp>
        <p:nvSpPr>
          <p:cNvPr id="3" name="Text 1"/>
          <p:cNvSpPr/>
          <p:nvPr/>
        </p:nvSpPr>
        <p:spPr>
          <a:xfrm>
            <a:off x="502920" y="502920"/>
            <a:ext cx="8138160" cy="566928"/>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The re-ported simulator reproduces SIGCOMM ’19</a:t>
            </a:r>
            <a:endParaRPr lang="en-US" sz="27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92440" cy="914400"/>
        </p:xfrm>
        <a:graphic>
          <a:graphicData uri="http://schemas.openxmlformats.org/drawingml/2006/table">
            <a:tbl>
              <a:tblPr/>
              <a:tblGrid>
                <a:gridCol w="2606040"/>
                <a:gridCol w="1097280"/>
                <a:gridCol w="1097280"/>
                <a:gridCol w="1097280"/>
                <a:gridCol w="1097280"/>
                <a:gridCol w="1097280"/>
              </a:tblGrid>
              <a:tr h="42062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short-flow p99 slowdown</a:t>
                      </a:r>
                      <a:endParaRPr lang="en-US" sz="1200" dirty="0">
                        <a:latin typeface="Calibri" charset="0"/>
                        <a:ea typeface="Calibri" charset="0"/>
                        <a:cs typeface="Calibri" charset="0"/>
                      </a:endParaRPr>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HPCC</a:t>
                      </a:r>
                      <a:endParaRPr lang="en-US" sz="1200" dirty="0">
                        <a:latin typeface="Calibri" charset="0"/>
                        <a:ea typeface="Calibri" charset="0"/>
                        <a:cs typeface="Calibri" charset="0"/>
                      </a:endParaRPr>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DCQCN</a:t>
                      </a:r>
                      <a:endParaRPr lang="en-US" sz="1200" dirty="0">
                        <a:latin typeface="Calibri" charset="0"/>
                        <a:ea typeface="Calibri" charset="0"/>
                        <a:cs typeface="Calibri" charset="0"/>
                      </a:endParaRPr>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TIMELY</a:t>
                      </a:r>
                      <a:endParaRPr lang="en-US" sz="1200" dirty="0">
                        <a:latin typeface="Calibri" charset="0"/>
                        <a:ea typeface="Calibri" charset="0"/>
                        <a:cs typeface="Calibri" charset="0"/>
                      </a:endParaRPr>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DCTCP</a:t>
                      </a:r>
                      <a:endParaRPr lang="en-US" sz="1200" dirty="0">
                        <a:latin typeface="Calibri" charset="0"/>
                        <a:ea typeface="Calibri" charset="0"/>
                        <a:cs typeface="Calibri" charset="0"/>
                      </a:endParaRPr>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PINT</a:t>
                      </a:r>
                      <a:endParaRPr lang="en-US" sz="1200" dirty="0">
                        <a:latin typeface="Calibri" charset="0"/>
                        <a:ea typeface="Calibri" charset="0"/>
                        <a:cs typeface="Calibri" charset="0"/>
                      </a:endParaRPr>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E2761"/>
                    </a:solidFill>
                  </a:tcPr>
                </a:tc>
              </a:tr>
              <a:tr h="420624">
                <a:tc>
                  <a:txBody>
                    <a:bodyPr/>
                    <a:lstStyle/>
                    <a:p>
                      <a:pPr indent="0" marL="0">
                        <a:buNone/>
                      </a:pPr>
                      <a:r>
                        <a:rPr lang="en-US" sz="1250" dirty="0">
                          <a:solidFill>
                            <a:srgbClr val="1F2733"/>
                          </a:solidFill>
                          <a:latin typeface="Calibri" pitchFamily="34" charset="0"/>
                          <a:ea typeface="Calibri" pitchFamily="34" charset="-122"/>
                          <a:cs typeface="Calibri" pitchFamily="34" charset="-120"/>
                        </a:rPr>
                        <a:t>WebSearch 50% load</a:t>
                      </a:r>
                      <a:endParaRPr lang="en-US" sz="1250" dirty="0">
                        <a:latin typeface="Calibri" charset="0"/>
                        <a:ea typeface="Calibri" charset="0"/>
                        <a:cs typeface="Calibri" charset="0"/>
                      </a:endParaRPr>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4F81BD"/>
                          </a:solidFill>
                          <a:latin typeface="Calibri" pitchFamily="34" charset="0"/>
                          <a:ea typeface="Calibri" pitchFamily="34" charset="-122"/>
                          <a:cs typeface="Calibri" pitchFamily="34" charset="-120"/>
                        </a:rPr>
                        <a:t>1.9</a:t>
                      </a:r>
                      <a:endParaRPr lang="en-US" sz="1250" dirty="0">
                        <a:latin typeface="Calibri" charset="0"/>
                        <a:ea typeface="Calibri" charset="0"/>
                        <a:cs typeface="Calibri" charset="0"/>
                      </a:endParaRPr>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733"/>
                          </a:solidFill>
                          <a:latin typeface="Calibri" pitchFamily="34" charset="0"/>
                          <a:ea typeface="Calibri" pitchFamily="34" charset="-122"/>
                          <a:cs typeface="Calibri" pitchFamily="34" charset="-120"/>
                        </a:rPr>
                        <a:t>13.7</a:t>
                      </a:r>
                      <a:endParaRPr lang="en-US" sz="1250" dirty="0">
                        <a:latin typeface="Calibri" charset="0"/>
                        <a:ea typeface="Calibri" charset="0"/>
                        <a:cs typeface="Calibri" charset="0"/>
                      </a:endParaRPr>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733"/>
                          </a:solidFill>
                          <a:latin typeface="Calibri" pitchFamily="34" charset="0"/>
                          <a:ea typeface="Calibri" pitchFamily="34" charset="-122"/>
                          <a:cs typeface="Calibri" pitchFamily="34" charset="-120"/>
                        </a:rPr>
                        <a:t>18.3</a:t>
                      </a:r>
                      <a:endParaRPr lang="en-US" sz="1250" dirty="0">
                        <a:latin typeface="Calibri" charset="0"/>
                        <a:ea typeface="Calibri" charset="0"/>
                        <a:cs typeface="Calibri" charset="0"/>
                      </a:endParaRPr>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733"/>
                          </a:solidFill>
                          <a:latin typeface="Calibri" pitchFamily="34" charset="0"/>
                          <a:ea typeface="Calibri" pitchFamily="34" charset="-122"/>
                          <a:cs typeface="Calibri" pitchFamily="34" charset="-120"/>
                        </a:rPr>
                        <a:t>5.7</a:t>
                      </a:r>
                      <a:endParaRPr lang="en-US" sz="1250" dirty="0">
                        <a:latin typeface="Calibri" charset="0"/>
                        <a:ea typeface="Calibri" charset="0"/>
                        <a:cs typeface="Calibri" charset="0"/>
                      </a:endParaRPr>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733"/>
                          </a:solidFill>
                          <a:latin typeface="Calibri" pitchFamily="34" charset="0"/>
                          <a:ea typeface="Calibri" pitchFamily="34" charset="-122"/>
                          <a:cs typeface="Calibri" pitchFamily="34" charset="-120"/>
                        </a:rPr>
                        <a:t>2.1</a:t>
                      </a:r>
                      <a:endParaRPr lang="en-US" sz="1250" dirty="0">
                        <a:latin typeface="Calibri" charset="0"/>
                        <a:ea typeface="Calibri" charset="0"/>
                        <a:cs typeface="Calibri" charset="0"/>
                      </a:endParaRPr>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420624">
                <a:tc>
                  <a:txBody>
                    <a:bodyPr/>
                    <a:lstStyle/>
                    <a:p>
                      <a:pPr indent="0" marL="0">
                        <a:buNone/>
                      </a:pPr>
                      <a:r>
                        <a:rPr lang="en-US" sz="1250" dirty="0">
                          <a:solidFill>
                            <a:srgbClr val="1F2733"/>
                          </a:solidFill>
                          <a:latin typeface="Calibri" pitchFamily="34" charset="0"/>
                          <a:ea typeface="Calibri" pitchFamily="34" charset="-122"/>
                          <a:cs typeface="Calibri" pitchFamily="34" charset="-120"/>
                        </a:rPr>
                        <a:t>FB-Hadoop 70% load</a:t>
                      </a:r>
                      <a:endParaRPr lang="en-US" sz="1250" dirty="0">
                        <a:latin typeface="Calibri" charset="0"/>
                        <a:ea typeface="Calibri" charset="0"/>
                        <a:cs typeface="Calibri" charset="0"/>
                      </a:endParaRPr>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4F81BD"/>
                          </a:solidFill>
                          <a:latin typeface="Calibri" pitchFamily="34" charset="0"/>
                          <a:ea typeface="Calibri" pitchFamily="34" charset="-122"/>
                          <a:cs typeface="Calibri" pitchFamily="34" charset="-120"/>
                        </a:rPr>
                        <a:t>6.1</a:t>
                      </a:r>
                      <a:endParaRPr lang="en-US" sz="1250" dirty="0">
                        <a:latin typeface="Calibri" charset="0"/>
                        <a:ea typeface="Calibri" charset="0"/>
                        <a:cs typeface="Calibri" charset="0"/>
                      </a:endParaRPr>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733"/>
                          </a:solidFill>
                          <a:latin typeface="Calibri" pitchFamily="34" charset="0"/>
                          <a:ea typeface="Calibri" pitchFamily="34" charset="-122"/>
                          <a:cs typeface="Calibri" pitchFamily="34" charset="-120"/>
                        </a:rPr>
                        <a:t>30.6</a:t>
                      </a:r>
                      <a:endParaRPr lang="en-US" sz="1250" dirty="0">
                        <a:latin typeface="Calibri" charset="0"/>
                        <a:ea typeface="Calibri" charset="0"/>
                        <a:cs typeface="Calibri" charset="0"/>
                      </a:endParaRPr>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C0504D"/>
                          </a:solidFill>
                          <a:latin typeface="Calibri" pitchFamily="34" charset="0"/>
                          <a:ea typeface="Calibri" pitchFamily="34" charset="-122"/>
                          <a:cs typeface="Calibri" pitchFamily="34" charset="-120"/>
                        </a:rPr>
                        <a:t>221.9</a:t>
                      </a:r>
                      <a:endParaRPr lang="en-US" sz="1250" dirty="0">
                        <a:latin typeface="Calibri" charset="0"/>
                        <a:ea typeface="Calibri" charset="0"/>
                        <a:cs typeface="Calibri" charset="0"/>
                      </a:endParaRPr>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733"/>
                          </a:solidFill>
                          <a:latin typeface="Calibri" pitchFamily="34" charset="0"/>
                          <a:ea typeface="Calibri" pitchFamily="34" charset="-122"/>
                          <a:cs typeface="Calibri" pitchFamily="34" charset="-120"/>
                        </a:rPr>
                        <a:t>8.4</a:t>
                      </a:r>
                      <a:endParaRPr lang="en-US" sz="1250" dirty="0">
                        <a:latin typeface="Calibri" charset="0"/>
                        <a:ea typeface="Calibri" charset="0"/>
                        <a:cs typeface="Calibri" charset="0"/>
                      </a:endParaRPr>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733"/>
                          </a:solidFill>
                          <a:latin typeface="Calibri" pitchFamily="34" charset="0"/>
                          <a:ea typeface="Calibri" pitchFamily="34" charset="-122"/>
                          <a:cs typeface="Calibri" pitchFamily="34" charset="-120"/>
                        </a:rPr>
                        <a:t>5.0</a:t>
                      </a:r>
                      <a:endParaRPr lang="en-US" sz="1250" dirty="0">
                        <a:latin typeface="Calibri" charset="0"/>
                        <a:ea typeface="Calibri" charset="0"/>
                        <a:cs typeface="Calibri" charset="0"/>
                      </a:endParaRPr>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420624">
                <a:tc>
                  <a:txBody>
                    <a:bodyPr/>
                    <a:lstStyle/>
                    <a:p>
                      <a:pPr indent="0" marL="0">
                        <a:buNone/>
                      </a:pPr>
                      <a:r>
                        <a:rPr lang="en-US" sz="1250" dirty="0">
                          <a:solidFill>
                            <a:srgbClr val="1F2733"/>
                          </a:solidFill>
                          <a:latin typeface="Calibri" pitchFamily="34" charset="0"/>
                          <a:ea typeface="Calibri" pitchFamily="34" charset="-122"/>
                          <a:cs typeface="Calibri" pitchFamily="34" charset="-120"/>
                        </a:rPr>
                        <a:t>PFC events (fb 70%)</a:t>
                      </a:r>
                      <a:endParaRPr lang="en-US" sz="1250" dirty="0">
                        <a:latin typeface="Calibri" charset="0"/>
                        <a:ea typeface="Calibri" charset="0"/>
                        <a:cs typeface="Calibri" charset="0"/>
                      </a:endParaRPr>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A7F37"/>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733"/>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C0504D"/>
                          </a:solidFill>
                          <a:latin typeface="Calibri" pitchFamily="34" charset="0"/>
                          <a:ea typeface="Calibri" pitchFamily="34" charset="-122"/>
                          <a:cs typeface="Calibri" pitchFamily="34" charset="-120"/>
                        </a:rPr>
                        <a:t>1.12 M</a:t>
                      </a:r>
                      <a:endParaRPr lang="en-US" sz="1250" dirty="0">
                        <a:latin typeface="Calibri" charset="0"/>
                        <a:ea typeface="Calibri" charset="0"/>
                        <a:cs typeface="Calibri" charset="0"/>
                      </a:endParaRPr>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733"/>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733"/>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3291840"/>
            <a:ext cx="8092440" cy="1371600"/>
          </a:xfrm>
          <a:prstGeom prst="rect">
            <a:avLst/>
          </a:prstGeom>
          <a:noFill/>
          <a:ln/>
        </p:spPr>
        <p:txBody>
          <a:bodyPr wrap="square" lIns="0" tIns="0" rIns="0" bIns="0" rtlCol="0" anchor="ctr"/>
          <a:lstStyle/>
          <a:p>
            <a:pPr indent="0" marL="0">
              <a:spcAft>
                <a:spcPts val="600"/>
              </a:spcAft>
              <a:buNone/>
            </a:pPr>
            <a:r>
              <a:rPr lang="en-US" sz="1250" dirty="0">
                <a:solidFill>
                  <a:srgbClr val="1F2733"/>
                </a:solidFill>
                <a:latin typeface="Calibri" pitchFamily="34" charset="0"/>
                <a:ea typeface="Calibri" pitchFamily="34" charset="-122"/>
                <a:cs typeface="Calibri" pitchFamily="34" charset="-120"/>
              </a:rPr>
              <a:t>5 schemes × 2 workloads × 3 loads on a 376-node fat-tree (320 servers, 100 G NICs). </a:t>
            </a:r>
            <a:endParaRPr lang="en-US" sz="1250" dirty="0"/>
          </a:p>
          <a:p>
            <a:pPr indent="0" marL="0">
              <a:buNone/>
            </a:pPr>
            <a:r>
              <a:rPr lang="en-US" sz="1250" dirty="0">
                <a:solidFill>
                  <a:srgbClr val="5B6675"/>
                </a:solidFill>
                <a:latin typeface="Calibri" pitchFamily="34" charset="0"/>
                <a:ea typeface="Calibri" pitchFamily="34" charset="-122"/>
                <a:cs typeface="Calibri" pitchFamily="34" charset="-120"/>
              </a:rPr>
              <a:t>All of the paper’s signatures reproduce: HPCC’s short-flow tail far below DCQCN/TIMELY, sub-MB queues, zero PFC; TIMELY’s PFC explosion at load; DCTCP intermediate. Along the way we found and fixed a latent uninitialized-member bug (Node::m_node_type) exposed only at scale.</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138160" cy="274320"/>
          </a:xfrm>
          <a:prstGeom prst="rect">
            <a:avLst/>
          </a:prstGeom>
          <a:noFill/>
          <a:ln/>
        </p:spPr>
        <p:txBody>
          <a:bodyPr wrap="square" lIns="0" tIns="0" rIns="0" bIns="0" rtlCol="0" anchor="ctr"/>
          <a:lstStyle/>
          <a:p>
            <a:pPr indent="0" marL="0">
              <a:buNone/>
            </a:pPr>
            <a:r>
              <a:rPr lang="en-US" sz="1100" b="1" spc="300" kern="0" dirty="0">
                <a:solidFill>
                  <a:srgbClr val="5B6675"/>
                </a:solidFill>
                <a:latin typeface="Calibri" pitchFamily="34" charset="0"/>
                <a:ea typeface="Calibri" pitchFamily="34" charset="-122"/>
                <a:cs typeface="Calibri" pitchFamily="34" charset="-120"/>
              </a:rPr>
              <a:t>BACKUP</a:t>
            </a:r>
            <a:endParaRPr lang="en-US" sz="1100" dirty="0"/>
          </a:p>
        </p:txBody>
      </p:sp>
      <p:sp>
        <p:nvSpPr>
          <p:cNvPr id="3" name="Text 1"/>
          <p:cNvSpPr/>
          <p:nvPr/>
        </p:nvSpPr>
        <p:spPr>
          <a:xfrm>
            <a:off x="502920" y="502920"/>
            <a:ext cx="8138160" cy="566928"/>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Mixed-size workloads · the INT-overflow artifact</a:t>
            </a:r>
            <a:endParaRPr lang="en-US" sz="2700" dirty="0"/>
          </a:p>
        </p:txBody>
      </p:sp>
      <p:sp>
        <p:nvSpPr>
          <p:cNvPr id="4" name="Shape 2"/>
          <p:cNvSpPr/>
          <p:nvPr/>
        </p:nvSpPr>
        <p:spPr>
          <a:xfrm>
            <a:off x="548640" y="1371600"/>
            <a:ext cx="3931920" cy="3017520"/>
          </a:xfrm>
          <a:prstGeom prst="roundRect">
            <a:avLst>
              <a:gd name="adj" fmla="val 2727"/>
            </a:avLst>
          </a:prstGeom>
          <a:solidFill>
            <a:srgbClr val="EEF3FB"/>
          </a:solidFill>
          <a:ln/>
          <a:effectLst>
            <a:outerShdw sx="100000" sy="100000" kx="0" ky="0" algn="bl" rotWithShape="0" blurRad="88900" dist="25400" dir="2700000">
              <a:srgbClr val="000000">
                <a:alpha val="14000"/>
              </a:srgbClr>
            </a:outerShdw>
          </a:effectLst>
        </p:spPr>
      </p:sp>
      <p:sp>
        <p:nvSpPr>
          <p:cNvPr id="5" name="Text 3"/>
          <p:cNvSpPr/>
          <p:nvPr/>
        </p:nvSpPr>
        <p:spPr>
          <a:xfrm>
            <a:off x="786384" y="1572768"/>
            <a:ext cx="3474720" cy="2651760"/>
          </a:xfrm>
          <a:prstGeom prst="rect">
            <a:avLst/>
          </a:prstGeom>
          <a:noFill/>
          <a:ln/>
        </p:spPr>
        <p:txBody>
          <a:bodyPr wrap="square" lIns="0" tIns="0" rIns="0" bIns="0" rtlCol="0" anchor="t"/>
          <a:lstStyle/>
          <a:p>
            <a:pPr indent="0" marL="0">
              <a:spcAft>
                <a:spcPts val="600"/>
              </a:spcAft>
              <a:buNone/>
            </a:pPr>
            <a:r>
              <a:rPr lang="en-US" sz="1400" b="1" dirty="0">
                <a:solidFill>
                  <a:srgbClr val="1E2761"/>
                </a:solidFill>
                <a:latin typeface="Calibri" pitchFamily="34" charset="0"/>
                <a:ea typeface="Calibri" pitchFamily="34" charset="-122"/>
                <a:cs typeface="Calibri" pitchFamily="34" charset="-120"/>
              </a:rPr>
              <a:t>Mixed sizes (WebSearch dist.)</a:t>
            </a:r>
            <a:endParaRPr lang="en-US" sz="1400" dirty="0"/>
          </a:p>
          <a:p>
            <a:pPr indent="0" marL="0">
              <a:spcAft>
                <a:spcPts val="600"/>
              </a:spcAft>
              <a:buNone/>
            </a:pPr>
            <a:r>
              <a:rPr lang="en-US" sz="1250" dirty="0">
                <a:solidFill>
                  <a:srgbClr val="1F2733"/>
                </a:solidFill>
                <a:latin typeface="Calibri" pitchFamily="34" charset="0"/>
                <a:ea typeface="Calibri" pitchFamily="34" charset="-122"/>
                <a:cs typeface="Calibri" pitchFamily="34" charset="-120"/>
              </a:rPr>
              <a:t>Long-flow mean slowdown −15%; short-path mean +45%.</a:t>
            </a:r>
            <a:endParaRPr lang="en-US" sz="1400" dirty="0"/>
          </a:p>
          <a:p>
            <a:pPr indent="0" marL="0">
              <a:spcAft>
                <a:spcPts val="600"/>
              </a:spcAft>
              <a:buNone/>
            </a:pPr>
            <a:r>
              <a:rPr lang="en-US" sz="1200" dirty="0">
                <a:solidFill>
                  <a:srgbClr val="5B6675"/>
                </a:solidFill>
                <a:latin typeface="Calibri" pitchFamily="34" charset="0"/>
                <a:ea typeface="Calibri" pitchFamily="34" charset="-122"/>
                <a:cs typeface="Calibri" pitchFamily="34" charset="-120"/>
              </a:rPr>
              <a:t>This is correct max-min: stock’s starvation of the long flow was inflating headroom that short flows enjoyed.</a:t>
            </a:r>
            <a:endParaRPr lang="en-US" sz="1400" dirty="0"/>
          </a:p>
          <a:p>
            <a:pPr indent="0" marL="0">
              <a:buNone/>
            </a:pPr>
            <a:r>
              <a:rPr lang="en-US" sz="1200" i="1" dirty="0">
                <a:solidFill>
                  <a:srgbClr val="5B6675"/>
                </a:solidFill>
                <a:latin typeface="Calibri" pitchFamily="34" charset="0"/>
                <a:ea typeface="Calibri" pitchFamily="34" charset="-122"/>
                <a:cs typeface="Calibri" pitchFamily="34" charset="-120"/>
              </a:rPr>
              <a:t>Per-class targets (beyond pure max-min) are application policy — future work.</a:t>
            </a:r>
            <a:endParaRPr lang="en-US" sz="1400" dirty="0"/>
          </a:p>
        </p:txBody>
      </p:sp>
      <p:sp>
        <p:nvSpPr>
          <p:cNvPr id="6" name="Shape 4"/>
          <p:cNvSpPr/>
          <p:nvPr/>
        </p:nvSpPr>
        <p:spPr>
          <a:xfrm>
            <a:off x="4709160" y="1371600"/>
            <a:ext cx="3931920" cy="3017520"/>
          </a:xfrm>
          <a:prstGeom prst="roundRect">
            <a:avLst>
              <a:gd name="adj" fmla="val 2727"/>
            </a:avLst>
          </a:prstGeom>
          <a:solidFill>
            <a:srgbClr val="F7E9E8"/>
          </a:solidFill>
          <a:ln/>
          <a:effectLst>
            <a:outerShdw sx="100000" sy="100000" kx="0" ky="0" algn="bl" rotWithShape="0" blurRad="88900" dist="25400" dir="2700000">
              <a:srgbClr val="000000">
                <a:alpha val="14000"/>
              </a:srgbClr>
            </a:outerShdw>
          </a:effectLst>
        </p:spPr>
      </p:sp>
      <p:sp>
        <p:nvSpPr>
          <p:cNvPr id="7" name="Text 5"/>
          <p:cNvSpPr/>
          <p:nvPr/>
        </p:nvSpPr>
        <p:spPr>
          <a:xfrm>
            <a:off x="4946904" y="1572768"/>
            <a:ext cx="3474720" cy="2651760"/>
          </a:xfrm>
          <a:prstGeom prst="rect">
            <a:avLst/>
          </a:prstGeom>
          <a:noFill/>
          <a:ln/>
        </p:spPr>
        <p:txBody>
          <a:bodyPr wrap="square" lIns="0" tIns="0" rIns="0" bIns="0" rtlCol="0" anchor="t"/>
          <a:lstStyle/>
          <a:p>
            <a:pPr indent="0" marL="0">
              <a:spcAft>
                <a:spcPts val="600"/>
              </a:spcAft>
              <a:buNone/>
            </a:pPr>
            <a:r>
              <a:rPr lang="en-US" sz="1400" b="1" dirty="0">
                <a:solidFill>
                  <a:srgbClr val="C0504D"/>
                </a:solidFill>
                <a:latin typeface="Calibri" pitchFamily="34" charset="0"/>
                <a:ea typeface="Calibri" pitchFamily="34" charset="-122"/>
                <a:cs typeface="Calibri" pitchFamily="34" charset="-120"/>
              </a:rPr>
              <a:t>Why stock ‘improves’ at N ≥ 5</a:t>
            </a:r>
            <a:endParaRPr lang="en-US" sz="1400" dirty="0"/>
          </a:p>
          <a:p>
            <a:pPr indent="0" marL="0">
              <a:spcAft>
                <a:spcPts val="600"/>
              </a:spcAft>
              <a:buNone/>
            </a:pPr>
            <a:r>
              <a:rPr lang="en-US" sz="1250" dirty="0">
                <a:solidFill>
                  <a:srgbClr val="1F2733"/>
                </a:solidFill>
                <a:latin typeface="Calibri" pitchFamily="34" charset="0"/>
                <a:ea typeface="Calibri" pitchFamily="34" charset="-122"/>
                <a:cs typeface="Calibri" pitchFamily="34" charset="-120"/>
              </a:rPr>
              <a:t>The INT header holds maxHop = 5 per-hop records. Longer paths overflow the record; the utilization estimate is computed over the wrong hops.</a:t>
            </a:r>
            <a:endParaRPr lang="en-US" sz="1400" dirty="0"/>
          </a:p>
          <a:p>
            <a:pPr indent="0" marL="0">
              <a:buNone/>
            </a:pPr>
            <a:r>
              <a:rPr lang="en-US" sz="1200" dirty="0">
                <a:solidFill>
                  <a:srgbClr val="5B6675"/>
                </a:solidFill>
                <a:latin typeface="Calibri" pitchFamily="34" charset="0"/>
                <a:ea typeface="Calibri" pitchFamily="34" charset="-122"/>
                <a:cs typeface="Calibri" pitchFamily="34" charset="-120"/>
              </a:rPr>
              <a:t>The 0.51× ‘advantage’ is corrupted control input, not fairness. RDMA-RCP is immune: one field, any path length.</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138160" cy="274320"/>
          </a:xfrm>
          <a:prstGeom prst="rect">
            <a:avLst/>
          </a:prstGeom>
          <a:noFill/>
          <a:ln/>
        </p:spPr>
        <p:txBody>
          <a:bodyPr wrap="square" lIns="0" tIns="0" rIns="0" bIns="0" rtlCol="0" anchor="ctr"/>
          <a:lstStyle/>
          <a:p>
            <a:pPr indent="0" marL="0">
              <a:buNone/>
            </a:pPr>
            <a:r>
              <a:rPr lang="en-US" sz="1100" b="1" spc="300" kern="0" dirty="0">
                <a:solidFill>
                  <a:srgbClr val="5B6675"/>
                </a:solidFill>
                <a:latin typeface="Calibri" pitchFamily="34" charset="0"/>
                <a:ea typeface="Calibri" pitchFamily="34" charset="-122"/>
                <a:cs typeface="Calibri" pitchFamily="34" charset="-120"/>
              </a:rPr>
              <a:t>BACKUP</a:t>
            </a:r>
            <a:endParaRPr lang="en-US" sz="1100" dirty="0"/>
          </a:p>
        </p:txBody>
      </p:sp>
      <p:sp>
        <p:nvSpPr>
          <p:cNvPr id="3" name="Text 1"/>
          <p:cNvSpPr/>
          <p:nvPr/>
        </p:nvSpPr>
        <p:spPr>
          <a:xfrm>
            <a:off x="502920" y="502920"/>
            <a:ext cx="8138160" cy="566928"/>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Can a switch ASIC run this? The Q16 fixed-point check</a:t>
            </a:r>
            <a:endParaRPr lang="en-US" sz="2700" dirty="0"/>
          </a:p>
        </p:txBody>
      </p:sp>
      <p:sp>
        <p:nvSpPr>
          <p:cNvPr id="4" name="Shape 2"/>
          <p:cNvSpPr/>
          <p:nvPr/>
        </p:nvSpPr>
        <p:spPr>
          <a:xfrm>
            <a:off x="548640" y="1371600"/>
            <a:ext cx="2560320" cy="2514600"/>
          </a:xfrm>
          <a:prstGeom prst="roundRect">
            <a:avLst>
              <a:gd name="adj" fmla="val 3273"/>
            </a:avLst>
          </a:prstGeom>
          <a:solidFill>
            <a:srgbClr val="EEF3FB"/>
          </a:solidFill>
          <a:ln/>
          <a:effectLst>
            <a:outerShdw sx="100000" sy="100000" kx="0" ky="0" algn="bl" rotWithShape="0" blurRad="88900" dist="25400" dir="2700000">
              <a:srgbClr val="000000">
                <a:alpha val="14000"/>
              </a:srgbClr>
            </a:outerShdw>
          </a:effectLst>
        </p:spPr>
      </p:sp>
      <p:sp>
        <p:nvSpPr>
          <p:cNvPr id="5" name="Text 3"/>
          <p:cNvSpPr/>
          <p:nvPr/>
        </p:nvSpPr>
        <p:spPr>
          <a:xfrm>
            <a:off x="749808" y="1536192"/>
            <a:ext cx="2194560" cy="5029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What the port needs</a:t>
            </a:r>
            <a:endParaRPr lang="en-US" sz="1350" dirty="0"/>
          </a:p>
        </p:txBody>
      </p:sp>
      <p:sp>
        <p:nvSpPr>
          <p:cNvPr id="6" name="Text 4"/>
          <p:cNvSpPr/>
          <p:nvPr/>
        </p:nvSpPr>
        <p:spPr>
          <a:xfrm>
            <a:off x="749808" y="2011680"/>
            <a:ext cx="2240280" cy="1783080"/>
          </a:xfrm>
          <a:prstGeom prst="rect">
            <a:avLst/>
          </a:prstGeom>
          <a:noFill/>
          <a:ln/>
        </p:spPr>
        <p:txBody>
          <a:bodyPr wrap="square" lIns="0" tIns="0" rIns="0" bIns="0" rtlCol="0" anchor="ctr"/>
          <a:lstStyle/>
          <a:p>
            <a:pPr marL="342900" indent="-342900">
              <a:spcAft>
                <a:spcPts val="600"/>
              </a:spcAft>
              <a:buSzPct val="100000"/>
              <a:buChar char="•"/>
            </a:pPr>
            <a:r>
              <a:rPr lang="en-US" sz="1050" dirty="0">
                <a:solidFill>
                  <a:srgbClr val="1F2733"/>
                </a:solidFill>
                <a:latin typeface="Calibri" pitchFamily="34" charset="0"/>
                <a:ea typeface="Calibri" pitchFamily="34" charset="-122"/>
                <a:cs typeface="Calibri" pitchFamily="34" charset="-120"/>
              </a:rPr>
              <a:t>3 registers: fair rate R, timestamp, byte snapshot</a:t>
            </a:r>
            <a:endParaRPr lang="en-US" sz="1050" dirty="0"/>
          </a:p>
          <a:p>
            <a:pPr marL="342900" indent="-342900">
              <a:spcAft>
                <a:spcPts val="600"/>
              </a:spcAft>
              <a:buSzPct val="100000"/>
              <a:buChar char="•"/>
            </a:pPr>
            <a:r>
              <a:rPr lang="en-US" sz="1050" dirty="0">
                <a:solidFill>
                  <a:srgbClr val="1F2733"/>
                </a:solidFill>
                <a:latin typeface="Calibri" pitchFamily="34" charset="0"/>
                <a:ea typeface="Calibri" pitchFamily="34" charset="-122"/>
                <a:cs typeface="Calibri" pitchFamily="34" charset="-120"/>
              </a:rPr>
              <a:t>dequeue-triggered update: 2 multiplies, 2 subtractions, a clamp</a:t>
            </a:r>
            <a:endParaRPr lang="en-US" sz="1050" dirty="0"/>
          </a:p>
          <a:p>
            <a:pPr marL="342900" indent="-342900">
              <a:spcAft>
                <a:spcPts val="600"/>
              </a:spcAft>
              <a:buSzPct val="100000"/>
              <a:buChar char="•"/>
            </a:pPr>
            <a:r>
              <a:rPr lang="en-US" sz="1050" dirty="0">
                <a:solidFill>
                  <a:srgbClr val="1F2733"/>
                </a:solidFill>
                <a:latin typeface="Calibri" pitchFamily="34" charset="0"/>
                <a:ea typeface="Calibri" pitchFamily="34" charset="-122"/>
                <a:cs typeface="Calibri" pitchFamily="34" charset="-120"/>
              </a:rPr>
              <a:t>per packet: one 64-bit compare-and-write (path-min)</a:t>
            </a:r>
            <a:endParaRPr lang="en-US" sz="1050" dirty="0"/>
          </a:p>
        </p:txBody>
      </p:sp>
      <p:sp>
        <p:nvSpPr>
          <p:cNvPr id="7" name="Shape 5"/>
          <p:cNvSpPr/>
          <p:nvPr/>
        </p:nvSpPr>
        <p:spPr>
          <a:xfrm>
            <a:off x="3337560" y="1371600"/>
            <a:ext cx="2560320" cy="2514600"/>
          </a:xfrm>
          <a:prstGeom prst="roundRect">
            <a:avLst>
              <a:gd name="adj" fmla="val 3273"/>
            </a:avLst>
          </a:prstGeom>
          <a:solidFill>
            <a:srgbClr val="EEF3FB"/>
          </a:solidFill>
          <a:ln/>
          <a:effectLst>
            <a:outerShdw sx="100000" sy="100000" kx="0" ky="0" algn="bl" rotWithShape="0" blurRad="88900" dist="25400" dir="2700000">
              <a:srgbClr val="000000">
                <a:alpha val="14000"/>
              </a:srgbClr>
            </a:outerShdw>
          </a:effectLst>
        </p:spPr>
      </p:sp>
      <p:sp>
        <p:nvSpPr>
          <p:cNvPr id="8" name="Text 6"/>
          <p:cNvSpPr/>
          <p:nvPr/>
        </p:nvSpPr>
        <p:spPr>
          <a:xfrm>
            <a:off x="3538728" y="1536192"/>
            <a:ext cx="2194560" cy="5029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Fixed-point build (fs_fixed_point)</a:t>
            </a:r>
            <a:endParaRPr lang="en-US" sz="1350" dirty="0"/>
          </a:p>
        </p:txBody>
      </p:sp>
      <p:sp>
        <p:nvSpPr>
          <p:cNvPr id="9" name="Text 7"/>
          <p:cNvSpPr/>
          <p:nvPr/>
        </p:nvSpPr>
        <p:spPr>
          <a:xfrm>
            <a:off x="3538728" y="2011680"/>
            <a:ext cx="2240280" cy="1783080"/>
          </a:xfrm>
          <a:prstGeom prst="rect">
            <a:avLst/>
          </a:prstGeom>
          <a:noFill/>
          <a:ln/>
        </p:spPr>
        <p:txBody>
          <a:bodyPr wrap="square" lIns="0" tIns="0" rIns="0" bIns="0" rtlCol="0" anchor="ctr"/>
          <a:lstStyle/>
          <a:p>
            <a:pPr marL="342900" indent="-342900">
              <a:spcAft>
                <a:spcPts val="600"/>
              </a:spcAft>
              <a:buSzPct val="100000"/>
              <a:buChar char="•"/>
            </a:pPr>
            <a:r>
              <a:rPr lang="en-US" sz="1050" dirty="0">
                <a:solidFill>
                  <a:srgbClr val="1F2733"/>
                </a:solidFill>
                <a:latin typeface="Calibri" pitchFamily="34" charset="0"/>
                <a:ea typeface="Calibri" pitchFamily="34" charset="-122"/>
                <a:cs typeface="Calibri" pitchFamily="34" charset="-120"/>
              </a:rPr>
              <a:t>Q16 multiplier; precomputed 1/C and β/(dC)</a:t>
            </a:r>
            <a:endParaRPr lang="en-US" sz="1050" dirty="0"/>
          </a:p>
          <a:p>
            <a:pPr marL="342900" indent="-342900">
              <a:spcAft>
                <a:spcPts val="600"/>
              </a:spcAft>
              <a:buSzPct val="100000"/>
              <a:buChar char="•"/>
            </a:pPr>
            <a:r>
              <a:rPr lang="en-US" sz="1050" dirty="0">
                <a:solidFill>
                  <a:srgbClr val="1F2733"/>
                </a:solidFill>
                <a:latin typeface="Calibri" pitchFamily="34" charset="0"/>
                <a:ea typeface="Calibri" pitchFamily="34" charset="-122"/>
                <a:cs typeface="Calibri" pitchFamily="34" charset="-120"/>
              </a:rPr>
              <a:t>reciprocal of the elapsed interval: shift + 8-entry mantissa LUT (≤ 25% max error)</a:t>
            </a:r>
            <a:endParaRPr lang="en-US" sz="1050" dirty="0"/>
          </a:p>
          <a:p>
            <a:pPr marL="342900" indent="-342900">
              <a:spcAft>
                <a:spcPts val="600"/>
              </a:spcAft>
              <a:buSzPct val="100000"/>
              <a:buChar char="•"/>
            </a:pPr>
            <a:r>
              <a:rPr lang="en-US" sz="1050" dirty="0">
                <a:solidFill>
                  <a:srgbClr val="1F2733"/>
                </a:solidFill>
                <a:latin typeface="Calibri" pitchFamily="34" charset="0"/>
                <a:ea typeface="Calibri" pitchFamily="34" charset="-122"/>
                <a:cs typeface="Calibri" pitchFamily="34" charset="-120"/>
              </a:rPr>
              <a:t>no divider anywhere on the update path</a:t>
            </a:r>
            <a:endParaRPr lang="en-US" sz="1050" dirty="0"/>
          </a:p>
        </p:txBody>
      </p:sp>
      <p:sp>
        <p:nvSpPr>
          <p:cNvPr id="10" name="Shape 8"/>
          <p:cNvSpPr/>
          <p:nvPr/>
        </p:nvSpPr>
        <p:spPr>
          <a:xfrm>
            <a:off x="6126480" y="1371600"/>
            <a:ext cx="2560320" cy="2514600"/>
          </a:xfrm>
          <a:prstGeom prst="roundRect">
            <a:avLst>
              <a:gd name="adj" fmla="val 3273"/>
            </a:avLst>
          </a:prstGeom>
          <a:solidFill>
            <a:srgbClr val="E9F0F8"/>
          </a:solidFill>
          <a:ln/>
          <a:effectLst>
            <a:outerShdw sx="100000" sy="100000" kx="0" ky="0" algn="bl" rotWithShape="0" blurRad="88900" dist="25400" dir="2700000">
              <a:srgbClr val="000000">
                <a:alpha val="14000"/>
              </a:srgbClr>
            </a:outerShdw>
          </a:effectLst>
        </p:spPr>
      </p:sp>
      <p:sp>
        <p:nvSpPr>
          <p:cNvPr id="11" name="Text 9"/>
          <p:cNvSpPr/>
          <p:nvPr/>
        </p:nvSpPr>
        <p:spPr>
          <a:xfrm>
            <a:off x="6327648" y="1536192"/>
            <a:ext cx="2194560" cy="5029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Same results as float</a:t>
            </a:r>
            <a:endParaRPr lang="en-US" sz="1350" dirty="0"/>
          </a:p>
        </p:txBody>
      </p:sp>
      <p:sp>
        <p:nvSpPr>
          <p:cNvPr id="12" name="Text 10"/>
          <p:cNvSpPr/>
          <p:nvPr/>
        </p:nvSpPr>
        <p:spPr>
          <a:xfrm>
            <a:off x="6327648" y="2011680"/>
            <a:ext cx="2240280" cy="1783080"/>
          </a:xfrm>
          <a:prstGeom prst="rect">
            <a:avLst/>
          </a:prstGeom>
          <a:noFill/>
          <a:ln/>
        </p:spPr>
        <p:txBody>
          <a:bodyPr wrap="square" lIns="0" tIns="0" rIns="0" bIns="0" rtlCol="0" anchor="ctr"/>
          <a:lstStyle/>
          <a:p>
            <a:pPr marL="342900" indent="-342900">
              <a:spcAft>
                <a:spcPts val="600"/>
              </a:spcAft>
              <a:buSzPct val="100000"/>
              <a:buChar char="•"/>
            </a:pPr>
            <a:r>
              <a:rPr lang="en-US" sz="1050" dirty="0">
                <a:solidFill>
                  <a:srgbClr val="1F2733"/>
                </a:solidFill>
                <a:latin typeface="Calibri" pitchFamily="34" charset="0"/>
                <a:ea typeface="Calibri" pitchFamily="34" charset="-122"/>
                <a:cs typeface="Calibri" pitchFamily="34" charset="-120"/>
              </a:rPr>
              <a:t>N-sweep 1.001–1.004× (float: 1.003–1.005×)</a:t>
            </a:r>
            <a:endParaRPr lang="en-US" sz="1050" dirty="0"/>
          </a:p>
          <a:p>
            <a:pPr marL="342900" indent="-342900">
              <a:spcAft>
                <a:spcPts val="600"/>
              </a:spcAft>
              <a:buSzPct val="100000"/>
              <a:buChar char="•"/>
            </a:pPr>
            <a:r>
              <a:rPr lang="en-US" sz="1050" dirty="0">
                <a:solidFill>
                  <a:srgbClr val="1F2733"/>
                </a:solidFill>
                <a:latin typeface="Calibri" pitchFamily="34" charset="0"/>
                <a:ea typeface="Calibri" pitchFamily="34" charset="-122"/>
                <a:cs typeface="Calibri" pitchFamily="34" charset="-120"/>
              </a:rPr>
              <a:t>ring JCT within 0.9%; damped fan-in 0.81 vs 0.84</a:t>
            </a:r>
            <a:endParaRPr lang="en-US" sz="1050" dirty="0"/>
          </a:p>
          <a:p>
            <a:pPr marL="342900" indent="-342900">
              <a:spcAft>
                <a:spcPts val="600"/>
              </a:spcAft>
              <a:buSzPct val="100000"/>
              <a:buChar char="•"/>
            </a:pPr>
            <a:r>
              <a:rPr lang="en-US" sz="1050" dirty="0">
                <a:solidFill>
                  <a:srgbClr val="1F2733"/>
                </a:solidFill>
                <a:latin typeface="Calibri" pitchFamily="34" charset="0"/>
                <a:ea typeface="Calibri" pitchFamily="34" charset="-122"/>
                <a:cs typeface="Calibri" pitchFamily="34" charset="-120"/>
              </a:rPr>
              <a:t>idle ports: update idles to 2²⁰·d — probe 0.378 vs 0.373 ms</a:t>
            </a:r>
            <a:endParaRPr lang="en-US" sz="1050" dirty="0"/>
          </a:p>
        </p:txBody>
      </p:sp>
      <p:sp>
        <p:nvSpPr>
          <p:cNvPr id="13" name="Shape 11"/>
          <p:cNvSpPr/>
          <p:nvPr/>
        </p:nvSpPr>
        <p:spPr>
          <a:xfrm>
            <a:off x="548640" y="4069080"/>
            <a:ext cx="8092440" cy="685800"/>
          </a:xfrm>
          <a:prstGeom prst="roundRect">
            <a:avLst>
              <a:gd name="adj" fmla="val 12000"/>
            </a:avLst>
          </a:prstGeom>
          <a:solidFill>
            <a:srgbClr val="F7E9E8"/>
          </a:solidFill>
          <a:ln/>
          <a:effectLst>
            <a:outerShdw sx="100000" sy="100000" kx="0" ky="0" algn="bl" rotWithShape="0" blurRad="88900" dist="25400" dir="2700000">
              <a:srgbClr val="000000">
                <a:alpha val="14000"/>
              </a:srgbClr>
            </a:outerShdw>
          </a:effectLst>
        </p:spPr>
      </p:sp>
      <p:sp>
        <p:nvSpPr>
          <p:cNvPr id="14" name="Text 12"/>
          <p:cNvSpPr/>
          <p:nvPr/>
        </p:nvSpPr>
        <p:spPr>
          <a:xfrm>
            <a:off x="777240" y="4114800"/>
            <a:ext cx="7635240" cy="594360"/>
          </a:xfrm>
          <a:prstGeom prst="rect">
            <a:avLst/>
          </a:prstGeom>
          <a:noFill/>
          <a:ln/>
        </p:spPr>
        <p:txBody>
          <a:bodyPr wrap="square" lIns="0" tIns="0" rIns="0" bIns="0" rtlCol="0" anchor="ctr"/>
          <a:lstStyle/>
          <a:p>
            <a:pPr indent="0" marL="0">
              <a:buNone/>
            </a:pPr>
            <a:r>
              <a:rPr lang="en-US" sz="1250" b="1" dirty="0">
                <a:solidFill>
                  <a:srgbClr val="C0504D"/>
                </a:solidFill>
                <a:latin typeface="Calibri" pitchFamily="34" charset="0"/>
                <a:ea typeface="Calibri" pitchFamily="34" charset="-122"/>
                <a:cs typeface="Calibri" pitchFamily="34" charset="-120"/>
              </a:rPr>
              <a:t>One real hazard found: </a:t>
            </a:r>
            <a:pPr indent="0" marL="0">
              <a:buNone/>
            </a:pPr>
            <a:r>
              <a:rPr lang="en-US" sz="1200" dirty="0">
                <a:solidFill>
                  <a:srgbClr val="1F2733"/>
                </a:solidFill>
                <a:latin typeface="Calibri" pitchFamily="34" charset="0"/>
                <a:ea typeface="Calibri" pitchFamily="34" charset="-122"/>
                <a:cs typeface="Calibri" pitchFamily="34" charset="-120"/>
              </a:rPr>
              <a:t>an R register in integer Mbps deadlocks floor recovery (growth truncates below ~2.5 Mbps). Kbps units remove it — we make 1 Kbps the required granularity; 32-bit unsigned Kbps spans 4.3 Tbps.</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Multi-Bottleneck Fairness on RDMA Fabrics: An Empirical Study (RDMA-RCP)</dc:title>
  <dc:subject>PptxGenJS Presentation</dc:subject>
  <dc:creator>Haoyu Wang</dc:creator>
  <cp:lastModifiedBy>Haoyu Wang</cp:lastModifiedBy>
  <cp:revision>1</cp:revision>
  <dcterms:created xsi:type="dcterms:W3CDTF">2026-10-12T03:33:44Z</dcterms:created>
  <dcterms:modified xsi:type="dcterms:W3CDTF">2026-10-12T03:33:44Z</dcterms:modified>
</cp:coreProperties>
</file>